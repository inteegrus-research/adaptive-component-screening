
<file path=[Content_Types].xml><?xml version="1.0" encoding="utf-8"?>
<Types xmlns="http://schemas.openxmlformats.org/package/2006/content-types">
  <Default Extension="image" ContentType="image/jp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6" r:id="rId3"/>
  </p:sldMasterIdLst>
  <p:notesMasterIdLst>
    <p:notesMasterId r:id="rId10"/>
  </p:notesMasterIdLst>
  <p:sldIdLst>
    <p:sldId id="258" r:id="rId4"/>
    <p:sldId id="256" r:id="rId5"/>
    <p:sldId id="257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965" y="29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C5C9D-AEE5-4203-842C-3D2EBDF19BF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6E561-93FC-4BDD-A278-AF7E8C57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86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683411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1807297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3120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EE7D57-31AB-8D27-3C66-A38EC9FF084D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54810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19660162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835600079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4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4152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007312135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2026301566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5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3597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52223287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092089274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6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9104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4141848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623246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08B7524-32A2-4C20-A58C-BC3BAA1042FC}" type="datetime1">
              <a:rPr lang="en-US"/>
              <a:t>9/11/2026</a:t>
            </a:fld>
            <a:endParaRPr lang="en-US"/>
          </a:p>
        </p:txBody>
      </p:sp>
      <p:sp>
        <p:nvSpPr>
          <p:cNvPr id="20894817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059889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663266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8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82966290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6346992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60792E3-D524-454C-8AFD-A91972900BCB}" type="datetime1">
              <a:rPr lang="en-US"/>
              <a:t>9/11/2026</a:t>
            </a:fld>
            <a:endParaRPr lang="en-US"/>
          </a:p>
        </p:txBody>
      </p:sp>
      <p:sp>
        <p:nvSpPr>
          <p:cNvPr id="21215166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6299108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24598" y="48771"/>
            <a:ext cx="8336915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97525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110225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4432065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780A9602-A9A9-453F-AEF1-37B5837E02CD}" type="datetime1">
              <a:rPr lang="en-US"/>
              <a:t>9/11/2026</a:t>
            </a:fld>
            <a:endParaRPr lang="en-US"/>
          </a:p>
        </p:txBody>
      </p:sp>
      <p:sp>
        <p:nvSpPr>
          <p:cNvPr id="13069304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45325493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hdr="0" dt="0"/>
  <p:txStyles>
    <p:titleStyle>
      <a:lvl1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2pPr>
      <a:lvl3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3pPr>
      <a:lvl4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4pPr>
      <a:lvl5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5pPr>
      <a:lvl6pPr marL="4572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6pPr>
      <a:lvl7pPr marL="9144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7pPr>
      <a:lvl8pPr marL="13716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8pPr>
      <a:lvl9pPr marL="18288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9pPr>
    </p:titleStyle>
    <p:bodyStyle>
      <a:lvl1pPr marL="342900" indent="-342900" algn="l" defTabSz="457200" rtl="0">
        <a:spcBef>
          <a:spcPts val="0"/>
        </a:spcBef>
        <a:spcAft>
          <a:spcPts val="0"/>
        </a:spcAft>
        <a:buFont typeface="Arial"/>
        <a:buChar char="•"/>
        <a:defRPr sz="32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marL="742950" indent="-285750" algn="l" defTabSz="457200" rtl="0">
        <a:spcBef>
          <a:spcPts val="0"/>
        </a:spcBef>
        <a:spcAft>
          <a:spcPts val="0"/>
        </a:spcAft>
        <a:buFont typeface="Arial"/>
        <a:buChar char="–"/>
        <a:defRPr sz="2800">
          <a:solidFill>
            <a:schemeClr val="tx1"/>
          </a:solidFill>
          <a:latin typeface="TradeGothic"/>
          <a:ea typeface="ＭＳ Ｐゴシック"/>
          <a:cs typeface="+mn-cs"/>
        </a:defRPr>
      </a:lvl2pPr>
      <a:lvl3pPr marL="1143000" indent="-228600" algn="l" defTabSz="457200" rtl="0">
        <a:spcBef>
          <a:spcPts val="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TradeGothic"/>
          <a:ea typeface="ＭＳ Ｐゴシック"/>
          <a:cs typeface="+mn-cs"/>
        </a:defRPr>
      </a:lvl3pPr>
      <a:lvl4pPr marL="1600200" indent="-228600" algn="l" defTabSz="457200" rtl="0">
        <a:spcBef>
          <a:spcPts val="0"/>
        </a:spcBef>
        <a:spcAft>
          <a:spcPts val="0"/>
        </a:spcAft>
        <a:buFont typeface="Arial"/>
        <a:buChar char="–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4pPr>
      <a:lvl5pPr marL="2057400" indent="-228600" algn="l" defTabSz="457200" rtl="0">
        <a:spcBef>
          <a:spcPts val="0"/>
        </a:spcBef>
        <a:spcAft>
          <a:spcPts val="0"/>
        </a:spcAft>
        <a:buFont typeface="Arial"/>
        <a:buChar char="»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f56b378224fc470b" Type="http://schemas.openxmlformats.org/officeDocument/2006/relationships/image" Target="../media/image40.png"/><Relationship Id="R4afaa470217c4cfa" Type="http://schemas.openxmlformats.org/officeDocument/2006/relationships/image" Target="../media/image9.png"/><Relationship Id="rId3" Type="http://schemas.openxmlformats.org/officeDocument/2006/relationships/image" Target="../media/image5.png"/><Relationship Id="R2cfb2afc8cf74657" Type="http://schemas.openxmlformats.org/officeDocument/2006/relationships/image" Target="../media/image50.png"/><Relationship Id="Red247d8bd6dc4d6b" Type="http://schemas.openxmlformats.org/officeDocument/2006/relationships/image" Target="../media/image6.png"/><Relationship Id="rId2" Type="http://schemas.openxmlformats.org/officeDocument/2006/relationships/image" Target="../media/image4.png"/><Relationship Id="R9274ebcc27e5415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38e2d941a66d4e57" Type="http://schemas.openxmlformats.org/officeDocument/2006/relationships/image" Target="../media/image8.png"/><Relationship Id="R51ad13d6f2be4345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6.image"/><Relationship Id="Rba8258afec78478c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ntrs.nasa.gov/citations/19840013934?utm_source=chatgpt.com" TargetMode="External"/><Relationship Id="rId13" Type="http://schemas.openxmlformats.org/officeDocument/2006/relationships/hyperlink" Target="https://drive.google.com/file/d/189mMLKakpU7hSJQMZQVkKwX74vK1W4xH/view?usp=sharing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eproc.isro.gov.in/home.html" TargetMode="External"/><Relationship Id="rId12" Type="http://schemas.openxmlformats.org/officeDocument/2006/relationships/hyperlink" Target="https://papers.neurips.cc/paper/2017/file/8a20a8621978632d76c43dfd28b67767-Paper.pdf?utm_source=chatgpt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nepp.nasa.gov/pages/EEE-INST-002.cfm" TargetMode="External"/><Relationship Id="rId11" Type="http://schemas.openxmlformats.org/officeDocument/2006/relationships/hyperlink" Target="https://jmlr.org/papers/v9/shafer08a.html" TargetMode="External"/><Relationship Id="rId5" Type="http://schemas.openxmlformats.org/officeDocument/2006/relationships/hyperlink" Target="https://www.sih.gov.in/sih2026PS" TargetMode="External"/><Relationship Id="rId10" Type="http://schemas.openxmlformats.org/officeDocument/2006/relationships/hyperlink" Target="https://scikithttps:/scikit-learn.org/stable/auto_examples/covariance/plot_robust_vs_empirical_covariance.html?utm_source=chatgpt.com" TargetMode="External"/><Relationship Id="rId4" Type="http://schemas.openxmlformats.org/officeDocument/2006/relationships/image" Target="../media/image13.png"/><Relationship Id="rId9" Type="http://schemas.openxmlformats.org/officeDocument/2006/relationships/hyperlink" Target="https://cs.nju.edu.cn/zhouzh/zhouzh.files/publication/icdm08b.pdf?utm_source=chatgpt.com" TargetMode="External"/><Relationship Id="rId14" Type="http://schemas.openxmlformats.org/officeDocument/2006/relationships/hyperlink" Target="https://github.com/RazeenaTasneem/ACS---Dem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360330157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88844704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pic>
        <p:nvPicPr>
          <p:cNvPr id="987131602" name="Picture 4"/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 bwMode="auto"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50093009" name="Subtitle 3"/>
          <p:cNvSpPr>
            <a:spLocks noGrp="1"/>
          </p:cNvSpPr>
          <p:nvPr>
            <p:ph type="subTitle" idx="1"/>
          </p:nvPr>
        </p:nvSpPr>
        <p:spPr bwMode="auto">
          <a:xfrm>
            <a:off x="89998" y="1166555"/>
            <a:ext cx="11694583" cy="1752599"/>
          </a:xfrm>
        </p:spPr>
        <p:txBody>
          <a:bodyPr/>
          <a:lstStyle/>
          <a:p>
            <a:pPr>
              <a:defRPr/>
            </a:pPr>
            <a:r>
              <a:rPr lang="en-US" sz="32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ACS - Adaptive Component Screening</a:t>
            </a:r>
            <a:endParaRPr lang="en-IN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128084564" name="Title 7"/>
          <p:cNvSpPr>
            <a:spLocks noGrp="1"/>
          </p:cNvSpPr>
          <p:nvPr>
            <p:ph type="ctrTitle"/>
          </p:nvPr>
        </p:nvSpPr>
        <p:spPr bwMode="auto">
          <a:xfrm>
            <a:off x="331286" y="-526757"/>
            <a:ext cx="10363200" cy="2076450"/>
          </a:xfrm>
        </p:spPr>
        <p:txBody>
          <a:bodyPr/>
          <a:lstStyle/>
          <a:p>
            <a:pPr>
              <a:defRPr/>
            </a:pPr>
            <a:r>
              <a:rPr lang="en-US" sz="4000" b="1">
                <a:solidFill>
                  <a:schemeClr val="tx2"/>
                </a:solidFill>
                <a:latin typeface="Garamond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/>
            </a:endParaRPr>
          </a:p>
        </p:txBody>
      </p:sp>
      <p:sp>
        <p:nvSpPr>
          <p:cNvPr id="194823209" name="TextBox 9"/>
          <p:cNvSpPr txBox="1"/>
          <p:nvPr/>
        </p:nvSpPr>
        <p:spPr bwMode="auto">
          <a:xfrm>
            <a:off x="331285" y="1988255"/>
            <a:ext cx="6249466" cy="4618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endParaRPr sz="220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>
                <a:latin typeface="Arial"/>
                <a:cs typeface="Arial"/>
              </a:rPr>
              <a:t>Problem Statement ID – 26170</a:t>
            </a:r>
            <a:endParaRPr sz="2200" b="1">
              <a:latin typeface="Arial"/>
              <a:cs typeface="Arial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>
                <a:latin typeface="Arial"/>
                <a:cs typeface="Arial"/>
              </a:rPr>
              <a:t>Problem Stateme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nt Title – AI-Driven Anomaly Detection in Component Burn-In &amp; Screening</a:t>
            </a:r>
            <a:endParaRPr sz="220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>
                <a:latin typeface="Arial"/>
                <a:cs typeface="Arial"/>
              </a:rPr>
              <a:t>Theme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 Smart Automation</a:t>
            </a:r>
            <a:endParaRPr sz="220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>
                <a:latin typeface="Arial"/>
                <a:cs typeface="Arial"/>
              </a:rPr>
              <a:t>PS Category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200" b="1">
                <a:latin typeface="Arial"/>
                <a:cs typeface="Arial"/>
              </a:rPr>
              <a:t> Software</a:t>
            </a:r>
            <a:endParaRPr sz="220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>
                <a:latin typeface="Arial"/>
                <a:cs typeface="Arial"/>
              </a:rPr>
              <a:t>Team ID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 EC004</a:t>
            </a:r>
            <a:endParaRPr sz="220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>
                <a:latin typeface="Arial"/>
                <a:cs typeface="Arial"/>
              </a:rPr>
              <a:t>Team Name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200" b="1">
                <a:latin typeface="Arial"/>
                <a:cs typeface="Arial"/>
              </a:rPr>
              <a:t> Arch Rival</a:t>
            </a:r>
            <a:endParaRPr lang="en-IN" sz="2400" b="1">
              <a:latin typeface="Arial"/>
              <a:cs typeface="Arial"/>
            </a:endParaRPr>
          </a:p>
        </p:txBody>
      </p:sp>
      <p:pic>
        <p:nvPicPr>
          <p:cNvPr id="987708601" name="Picture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S_slide_text_repla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41119" y="195072"/>
            <a:ext cx="8302751" cy="426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91" b="1">
                <a:solidFill>
                  <a:srgbClr val="000000"/>
                </a:solidFill>
                <a:latin typeface="Arial"/>
              </a:rPr>
              <a:t>Adaptive AI Screening for Early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5" y="743712"/>
            <a:ext cx="7991855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47" b="1">
                <a:solidFill>
                  <a:srgbClr val="000000"/>
                </a:solidFill>
                <a:latin typeface="Arial"/>
              </a:rPr>
              <a:t>of Latent Electronic Component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39" y="1569924"/>
            <a:ext cx="1904367" cy="1154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dirty="0">
                <a:solidFill>
                  <a:srgbClr val="245FA8"/>
                </a:solidFill>
                <a:latin typeface="Arial"/>
              </a:rPr>
              <a:t>Data-Driven + Population-Aware + Predictive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5727" y="1539307"/>
            <a:ext cx="3863237" cy="17665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48" b="1" dirty="0">
                <a:solidFill>
                  <a:srgbClr val="041F51"/>
                </a:solidFill>
                <a:latin typeface="Arial"/>
              </a:rPr>
              <a:t>ACS—Adaptive Component Screening (Our Approach)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1" y="1854838"/>
            <a:ext cx="5095947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dirty="0">
                <a:solidFill>
                  <a:srgbClr val="2C4773"/>
                </a:solidFill>
                <a:latin typeface="Arial"/>
              </a:rPr>
              <a:t>Each parameter is checked independently against a fixed datasheet limit. Components within the limit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1823" y="1857886"/>
            <a:ext cx="5333191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dirty="0">
                <a:solidFill>
                  <a:srgbClr val="214178"/>
                </a:solidFill>
                <a:latin typeface="Arial"/>
              </a:rPr>
              <a:t>Learns the normal behavior from population and temporal data, detects </a:t>
            </a:r>
            <a:r>
              <a:rPr sz="850" dirty="0" err="1">
                <a:solidFill>
                  <a:srgbClr val="214178"/>
                </a:solidFill>
                <a:latin typeface="Arial"/>
              </a:rPr>
              <a:t>subt</a:t>
            </a:r>
            <a:r>
              <a:rPr lang="en-IN" sz="850" dirty="0">
                <a:solidFill>
                  <a:srgbClr val="214178"/>
                </a:solidFill>
                <a:latin typeface="Arial"/>
              </a:rPr>
              <a:t>l</a:t>
            </a:r>
            <a:r>
              <a:rPr sz="850" dirty="0">
                <a:solidFill>
                  <a:srgbClr val="214178"/>
                </a:solidFill>
                <a:latin typeface="Arial"/>
              </a:rPr>
              <a:t>e anomalies, forecasts future drift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1" y="1998094"/>
            <a:ext cx="4060407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850" dirty="0">
                <a:solidFill>
                  <a:srgbClr val="1A3669"/>
                </a:solidFill>
                <a:latin typeface="Arial"/>
              </a:rPr>
              <a:t>considered PASS, even if they show abnormal trends or population-level deviations.</a:t>
            </a:r>
            <a:endParaRPr sz="850" dirty="0">
              <a:solidFill>
                <a:srgbClr val="1A3669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19" y="1995046"/>
            <a:ext cx="3438442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dirty="0">
                <a:solidFill>
                  <a:srgbClr val="1E3D75"/>
                </a:solidFill>
                <a:latin typeface="Arial"/>
              </a:rPr>
              <a:t>(168h) and provides an explainable, safety-gated engineering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431" y="2346960"/>
            <a:ext cx="1737359" cy="121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3">
                <a:solidFill>
                  <a:srgbClr val="0F235A"/>
                </a:solidFill>
                <a:latin typeface="Arial"/>
              </a:rPr>
              <a:t>Parameter Check (Exampte: Iddq)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7" y="2320383"/>
            <a:ext cx="833562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dirty="0">
                <a:solidFill>
                  <a:srgbClr val="0B153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4975" y="2316480"/>
            <a:ext cx="1572767" cy="1158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9">
                <a:solidFill>
                  <a:srgbClr val="0D3688"/>
                </a:solidFill>
                <a:latin typeface="Arial"/>
              </a:rPr>
              <a:t>1. Population-Aware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679" y="2316480"/>
            <a:ext cx="1572767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62" dirty="0">
                <a:solidFill>
                  <a:srgbClr val="0F3B8F"/>
                </a:solidFill>
                <a:latin typeface="Arial"/>
              </a:rPr>
              <a:t>2. Time-Series Drift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6895" y="2456688"/>
            <a:ext cx="627887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94">
                <a:solidFill>
                  <a:srgbClr val="153C87"/>
                </a:solidFill>
                <a:latin typeface="Arial"/>
              </a:rPr>
              <a:t>(Multivariate)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2991" y="2372377"/>
            <a:ext cx="1088439" cy="1015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60" dirty="0">
                <a:solidFill>
                  <a:srgbClr val="0A1A55"/>
                </a:solidFill>
                <a:latin typeface="Arial"/>
              </a:rPr>
              <a:t>| 3. Decision with Uncertainty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6541" y="2537645"/>
            <a:ext cx="1115690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dirty="0">
                <a:solidFill>
                  <a:srgbClr val="002060"/>
                </a:solidFill>
                <a:latin typeface="Arial"/>
              </a:rPr>
              <a:t>Fixed datasheet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7679" y="2468880"/>
            <a:ext cx="646175" cy="103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>
                <a:solidFill>
                  <a:srgbClr val="26558D"/>
                </a:solidFill>
                <a:latin typeface="Arial"/>
              </a:rPr>
              <a:t>(Example: Iddq)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" y="2627376"/>
            <a:ext cx="103631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25497A"/>
                </a:solidFill>
                <a:latin typeface="Arial"/>
              </a:rP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01823" y="2676144"/>
            <a:ext cx="627887" cy="792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D52E23"/>
                </a:solidFill>
                <a:latin typeface="Arial"/>
              </a:rPr>
              <a:t>Datasheet limit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9375" y="2633472"/>
            <a:ext cx="719327" cy="853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18">
                <a:solidFill>
                  <a:srgbClr val="295991"/>
                </a:solidFill>
                <a:latin typeface="Arial"/>
              </a:rPr>
              <a:t>Normal behaviour,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3759" y="2692239"/>
            <a:ext cx="1372171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dirty="0">
                <a:solidFill>
                  <a:srgbClr val="002060"/>
                </a:solidFill>
                <a:latin typeface="Arial"/>
              </a:rPr>
              <a:t>Single-time measurements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0095" y="2694432"/>
            <a:ext cx="932687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 dirty="0">
                <a:solidFill>
                  <a:srgbClr val="D02520"/>
                </a:solidFill>
                <a:latin typeface="Arial"/>
              </a:rPr>
              <a:t>Predicted to cross 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9375" y="2743200"/>
            <a:ext cx="304799" cy="792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2F5D8F"/>
                </a:solidFill>
                <a:latin typeface="Arial"/>
              </a:rPr>
              <a:t>low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" y="2852928"/>
            <a:ext cx="103631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25467C"/>
                </a:solidFill>
                <a:latin typeface="Arial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01823" y="2780779"/>
            <a:ext cx="304571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dirty="0">
                <a:solidFill>
                  <a:srgbClr val="D62720"/>
                </a:solidFill>
                <a:latin typeface="Arial"/>
              </a:rPr>
              <a:t>(50 </a:t>
            </a:r>
            <a:r>
              <a:rPr sz="700" b="1" dirty="0" err="1">
                <a:solidFill>
                  <a:srgbClr val="D62720"/>
                </a:solidFill>
                <a:latin typeface="Arial"/>
              </a:rPr>
              <a:t>pA</a:t>
            </a:r>
            <a:r>
              <a:rPr sz="700" b="1" dirty="0">
                <a:solidFill>
                  <a:srgbClr val="D62720"/>
                </a:solidFill>
                <a:latin typeface="Arial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6191" y="2804160"/>
            <a:ext cx="371855" cy="103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>
                <a:solidFill>
                  <a:srgbClr val="D21F1C"/>
                </a:solidFill>
                <a:latin typeface="Arial"/>
              </a:rPr>
              <a:t>(42.5 pA)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3776" y="2847687"/>
            <a:ext cx="1731243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dirty="0">
                <a:solidFill>
                  <a:srgbClr val="002060"/>
                </a:solidFill>
                <a:latin typeface="Arial"/>
              </a:rPr>
              <a:t>No population or temporal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983" y="3078480"/>
            <a:ext cx="109727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20477D"/>
                </a:solidFill>
                <a:latin typeface="Arial"/>
              </a:rPr>
              <a:t>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3776" y="3003135"/>
            <a:ext cx="1795363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dirty="0">
                <a:solidFill>
                  <a:srgbClr val="002060"/>
                </a:solidFill>
                <a:latin typeface="Arial"/>
              </a:rPr>
              <a:t>Ignores subt</a:t>
            </a:r>
            <a:r>
              <a:rPr lang="en-US" sz="900" dirty="0">
                <a:solidFill>
                  <a:srgbClr val="002060"/>
                </a:solidFill>
                <a:latin typeface="Arial"/>
              </a:rPr>
              <a:t>l</a:t>
            </a:r>
            <a:r>
              <a:rPr sz="900" dirty="0">
                <a:solidFill>
                  <a:srgbClr val="002060"/>
                </a:solidFill>
                <a:latin typeface="Arial"/>
              </a:rPr>
              <a:t>e multivariate patterns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3935" y="3066288"/>
            <a:ext cx="249935" cy="792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 dirty="0">
                <a:solidFill>
                  <a:srgbClr val="143160"/>
                </a:solidFill>
                <a:latin typeface="Arial"/>
              </a:rPr>
              <a:t>FROM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9375" y="3048000"/>
            <a:ext cx="731519" cy="853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18">
                <a:solidFill>
                  <a:srgbClr val="395A85"/>
                </a:solidFill>
                <a:latin typeface="Arial"/>
              </a:rPr>
              <a:t>Bordertine / needs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2703" y="3127248"/>
            <a:ext cx="335279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62">
                <a:solidFill>
                  <a:srgbClr val="D32820"/>
                </a:solidFill>
                <a:latin typeface="Arial"/>
              </a:rPr>
              <a:t>Passes,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9375" y="3157728"/>
            <a:ext cx="853439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62">
                <a:solidFill>
                  <a:srgbClr val="2B5085"/>
                </a:solidFill>
                <a:latin typeface="Arial"/>
              </a:rPr>
              <a:t>engineering attention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2703" y="3249168"/>
            <a:ext cx="676655" cy="853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18">
                <a:solidFill>
                  <a:srgbClr val="D6241D"/>
                </a:solidFill>
                <a:latin typeface="Arial"/>
              </a:rPr>
              <a:t>but anomalous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7663" y="3165533"/>
            <a:ext cx="1301638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dirty="0">
                <a:solidFill>
                  <a:srgbClr val="002060"/>
                </a:solidFill>
                <a:latin typeface="Arial"/>
              </a:rPr>
              <a:t>Cannot predict future drift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0031" y="3206496"/>
            <a:ext cx="243839" cy="792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203F65"/>
                </a:solidFill>
                <a:latin typeface="Arial"/>
              </a:rPr>
              <a:t>LIMIT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79" y="3304032"/>
            <a:ext cx="103631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2B4D83"/>
                </a:solidFill>
                <a:latin typeface="Arial"/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3776" y="3307935"/>
            <a:ext cx="1891543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dirty="0">
                <a:solidFill>
                  <a:srgbClr val="002060"/>
                </a:solidFill>
                <a:latin typeface="Arial"/>
              </a:rPr>
              <a:t>Limited handling of out-of-distribution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29071" y="3346704"/>
            <a:ext cx="365759" cy="792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 dirty="0">
                <a:solidFill>
                  <a:srgbClr val="102C56"/>
                </a:solidFill>
                <a:latin typeface="Arial"/>
              </a:rPr>
              <a:t>CHECKS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2703" y="3371088"/>
            <a:ext cx="646175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94">
                <a:solidFill>
                  <a:srgbClr val="D6221D"/>
                </a:solidFill>
                <a:latin typeface="Arial"/>
              </a:rPr>
              <a:t>(latent defect)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79" y="3529584"/>
            <a:ext cx="103631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325787"/>
                </a:solidFill>
                <a:latin typeface="Arial"/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38143" y="3448143"/>
            <a:ext cx="628377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dirty="0">
                <a:solidFill>
                  <a:srgbClr val="002060"/>
                </a:solidFill>
                <a:latin typeface="Arial"/>
              </a:rPr>
              <a:t>components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50991" y="3493008"/>
            <a:ext cx="115823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18365E"/>
                </a:solidFill>
                <a:latin typeface="Arial"/>
              </a:rPr>
              <a:t>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3983" y="3505200"/>
            <a:ext cx="85343" cy="670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45739F"/>
                </a:solidFill>
                <a:latin typeface="Arial"/>
              </a:rP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9375" y="3535680"/>
            <a:ext cx="902207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62" dirty="0">
                <a:solidFill>
                  <a:srgbClr val="275A90"/>
                </a:solidFill>
                <a:latin typeface="Arial"/>
              </a:rPr>
              <a:t>High risk of future failure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399" y="3633216"/>
            <a:ext cx="457199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173058"/>
                </a:solidFill>
                <a:latin typeface="Arial"/>
              </a:rPr>
              <a:t>LEARNING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175" y="3749040"/>
            <a:ext cx="97535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163F78"/>
                </a:solidFill>
                <a:latin typeface="Arial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55919" y="3773424"/>
            <a:ext cx="512063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1A3A64"/>
                </a:solidFill>
                <a:latin typeface="Arial"/>
              </a:rPr>
              <a:t>BEHAVIOUR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01455" y="3822192"/>
            <a:ext cx="85343" cy="670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376CA0"/>
                </a:solidFill>
                <a:latin typeface="Arial"/>
              </a:rPr>
              <a:t>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7007" y="3822192"/>
            <a:ext cx="85343" cy="670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3169A0"/>
                </a:solidFill>
                <a:latin typeface="Arial"/>
              </a:rPr>
              <a:t>48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8655" y="3822192"/>
            <a:ext cx="85343" cy="670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3D79AC"/>
                </a:solidFill>
                <a:latin typeface="Arial"/>
              </a:rPr>
              <a:t>72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90303" y="3822192"/>
            <a:ext cx="798575" cy="670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326C9F"/>
                </a:solidFill>
                <a:latin typeface="Arial"/>
              </a:rPr>
              <a:t>96 120 144 168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6223" y="3824408"/>
            <a:ext cx="859210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dirty="0">
                <a:solidFill>
                  <a:srgbClr val="D51310"/>
                </a:solidFill>
                <a:latin typeface="Arial"/>
              </a:rPr>
              <a:t>Key Limitations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34783" y="3931920"/>
            <a:ext cx="140207" cy="670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245994"/>
                </a:solidFill>
                <a:latin typeface="Arial"/>
              </a:rPr>
              <a:t>Pct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59" y="3944112"/>
            <a:ext cx="310895" cy="853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18">
                <a:solidFill>
                  <a:srgbClr val="225A92"/>
                </a:solidFill>
                <a:latin typeface="Arial"/>
              </a:rPr>
              <a:t>Time (b)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9375" y="3875041"/>
            <a:ext cx="697307" cy="1015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60" dirty="0">
                <a:solidFill>
                  <a:srgbClr val="265D96"/>
                </a:solidFill>
                <a:latin typeface="Arial"/>
              </a:rPr>
              <a:t>Out-of- distribution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3" y="3974592"/>
            <a:ext cx="146303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1A4883"/>
                </a:solidFill>
                <a:latin typeface="Arial"/>
              </a:rPr>
              <a:t>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09375" y="3992880"/>
            <a:ext cx="871727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62" dirty="0">
                <a:solidFill>
                  <a:srgbClr val="265993"/>
                </a:solidFill>
                <a:latin typeface="Arial"/>
              </a:rPr>
              <a:t>(unknown component)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6047" y="4078224"/>
            <a:ext cx="103631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213F71"/>
                </a:solidFill>
                <a:latin typeface="Arial"/>
              </a:rPr>
              <a:t>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5711" y="4078224"/>
            <a:ext cx="103631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2A4C78"/>
                </a:solidFill>
                <a:latin typeface="Arial"/>
              </a:rPr>
              <a:t>40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65375" y="4078224"/>
            <a:ext cx="103631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2A4D7D"/>
                </a:solidFill>
                <a:latin typeface="Arial"/>
              </a:rPr>
              <a:t>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25039" y="4078224"/>
            <a:ext cx="97535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173C71"/>
                </a:solidFill>
                <a:latin typeface="Arial"/>
              </a:rPr>
              <a:t>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60319" y="4078224"/>
            <a:ext cx="152399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244479"/>
                </a:solidFill>
                <a:latin typeface="Arial"/>
              </a:rPr>
              <a:t>100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5263" y="4069773"/>
            <a:ext cx="2036064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rgbClr val="002060"/>
                </a:solidFill>
                <a:latin typeface="Arial"/>
              </a:rPr>
              <a:t> </a:t>
            </a:r>
            <a:r>
              <a:rPr sz="900" dirty="0">
                <a:solidFill>
                  <a:srgbClr val="002060"/>
                </a:solidFill>
                <a:latin typeface="Arial"/>
              </a:rPr>
              <a:t>Misses latent defects within </a:t>
            </a:r>
            <a:r>
              <a:rPr lang="en-IN" sz="900" dirty="0">
                <a:solidFill>
                  <a:srgbClr val="002060"/>
                </a:solidFill>
                <a:latin typeface="Arial"/>
              </a:rPr>
              <a:t>limits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65391" y="4108704"/>
            <a:ext cx="1024127" cy="853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18">
                <a:solidFill>
                  <a:srgbClr val="2C5C90"/>
                </a:solidFill>
                <a:latin typeface="Arial"/>
              </a:rPr>
              <a:t>Normal population (leamed)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08847" y="4108704"/>
            <a:ext cx="731519" cy="853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18" dirty="0">
                <a:solidFill>
                  <a:srgbClr val="35699F"/>
                </a:solidFill>
                <a:latin typeface="Arial"/>
              </a:rPr>
              <a:t>Measured (burn-in)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29343" y="4108704"/>
            <a:ext cx="829055" cy="853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18">
                <a:solidFill>
                  <a:srgbClr val="335F96"/>
                </a:solidFill>
                <a:latin typeface="Arial"/>
              </a:rPr>
              <a:t>~~~ Predicted (1686)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37487" y="4230624"/>
            <a:ext cx="1024127" cy="103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>
                <a:solidFill>
                  <a:srgbClr val="1F406C"/>
                </a:solidFill>
                <a:latin typeface="Arial"/>
              </a:rPr>
              <a:t>Components (same lot)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55263" y="4283507"/>
            <a:ext cx="1308050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rgbClr val="002060"/>
                </a:solidFill>
                <a:latin typeface="Arial"/>
              </a:rPr>
              <a:t> </a:t>
            </a:r>
            <a:r>
              <a:rPr sz="900" dirty="0">
                <a:solidFill>
                  <a:srgbClr val="002060"/>
                </a:solidFill>
                <a:latin typeface="Arial"/>
              </a:rPr>
              <a:t>High false confidence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19087" y="4255008"/>
            <a:ext cx="816863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62">
                <a:solidFill>
                  <a:srgbClr val="3B5C90"/>
                </a:solidFill>
                <a:latin typeface="Arial"/>
              </a:rPr>
              <a:t>© Detected anomaly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08847" y="4255008"/>
            <a:ext cx="847343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2E6398"/>
                </a:solidFill>
                <a:latin typeface="Arial"/>
              </a:rPr>
              <a:t>95% Prediction Interval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3" y="4529182"/>
            <a:ext cx="1082027" cy="12221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794" dirty="0">
                <a:solidFill>
                  <a:srgbClr val="0070C0"/>
                </a:solidFill>
                <a:latin typeface="Arial"/>
              </a:rPr>
              <a:t>Normal components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55263" y="4484462"/>
            <a:ext cx="1070806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rgbClr val="002060"/>
                </a:solidFill>
                <a:latin typeface="Arial"/>
              </a:rPr>
              <a:t> </a:t>
            </a:r>
            <a:r>
              <a:rPr sz="900" dirty="0">
                <a:solidFill>
                  <a:srgbClr val="002060"/>
                </a:solidFill>
                <a:latin typeface="Arial"/>
              </a:rPr>
              <a:t>No early warning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89135" y="4575903"/>
            <a:ext cx="2180084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IN" sz="900" dirty="0">
                <a:solidFill>
                  <a:srgbClr val="226990"/>
                </a:solidFill>
                <a:latin typeface="Arial"/>
              </a:rPr>
              <a:t>Handles out-of-distribution components</a:t>
            </a:r>
            <a:endParaRPr sz="900" dirty="0">
              <a:solidFill>
                <a:srgbClr val="226990"/>
              </a:solidFill>
              <a:latin typeface="Arial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291071" y="4602480"/>
            <a:ext cx="810767" cy="1158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9" b="1">
                <a:solidFill>
                  <a:srgbClr val="081941"/>
                </a:solidFill>
                <a:latin typeface="Arial"/>
              </a:rPr>
              <a:t>Why It’s Better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9263" y="4706316"/>
            <a:ext cx="1546898" cy="1154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750" dirty="0">
                <a:solidFill>
                  <a:srgbClr val="FF0000"/>
                </a:solidFill>
                <a:latin typeface="Arial"/>
              </a:rPr>
              <a:t>Latent defective (still within limit)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55263" y="4694774"/>
            <a:ext cx="1506823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rgbClr val="002060"/>
                </a:solidFill>
                <a:latin typeface="Arial"/>
              </a:rPr>
              <a:t> </a:t>
            </a:r>
            <a:r>
              <a:rPr sz="900" dirty="0">
                <a:solidFill>
                  <a:srgbClr val="002060"/>
                </a:solidFill>
                <a:latin typeface="Arial"/>
              </a:rPr>
              <a:t>No uncertainty estimation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6687" y="4777070"/>
            <a:ext cx="2500685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IN" sz="900" dirty="0">
                <a:solidFill>
                  <a:srgbClr val="25688F"/>
                </a:solidFill>
                <a:latin typeface="Arial"/>
              </a:rPr>
              <a:t> </a:t>
            </a:r>
            <a:r>
              <a:rPr sz="900" dirty="0">
                <a:solidFill>
                  <a:srgbClr val="25688F"/>
                </a:solidFill>
                <a:latin typeface="Arial"/>
              </a:rPr>
              <a:t>Detects subt</a:t>
            </a:r>
            <a:r>
              <a:rPr lang="en-US" sz="900" dirty="0">
                <a:solidFill>
                  <a:srgbClr val="25688F"/>
                </a:solidFill>
                <a:latin typeface="Arial"/>
              </a:rPr>
              <a:t>l</a:t>
            </a:r>
            <a:r>
              <a:rPr sz="900" dirty="0">
                <a:solidFill>
                  <a:srgbClr val="25688F"/>
                </a:solidFill>
                <a:latin typeface="Arial"/>
              </a:rPr>
              <a:t>e, population-relative anomalies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89135" y="4747554"/>
            <a:ext cx="2098331" cy="1426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sz="900" dirty="0">
                <a:solidFill>
                  <a:srgbClr val="247094"/>
                </a:solidFill>
                <a:latin typeface="Arial"/>
              </a:rPr>
              <a:t>Provides uncertainty with predictions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55262" y="4905086"/>
            <a:ext cx="1609415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rgbClr val="002060"/>
                </a:solidFill>
                <a:latin typeface="Arial"/>
              </a:rPr>
              <a:t> T</a:t>
            </a:r>
            <a:r>
              <a:rPr sz="900" dirty="0">
                <a:solidFill>
                  <a:srgbClr val="002060"/>
                </a:solidFill>
                <a:latin typeface="Arial"/>
              </a:rPr>
              <a:t>o new component families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66687" y="4953854"/>
            <a:ext cx="2699457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IN" sz="900" dirty="0">
                <a:solidFill>
                  <a:srgbClr val="24658F"/>
                </a:solidFill>
                <a:latin typeface="Arial"/>
              </a:rPr>
              <a:t> </a:t>
            </a:r>
            <a:r>
              <a:rPr sz="900" dirty="0">
                <a:solidFill>
                  <a:srgbClr val="24658F"/>
                </a:solidFill>
                <a:latin typeface="Arial"/>
              </a:rPr>
              <a:t>Uses temporal trends to forecast 168h behavior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89135" y="4929471"/>
            <a:ext cx="2263440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sz="900" dirty="0">
                <a:solidFill>
                  <a:srgbClr val="236692"/>
                </a:solidFill>
                <a:latin typeface="Arial"/>
              </a:rPr>
              <a:t>Generates human-readable explanations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66687" y="5125396"/>
            <a:ext cx="2468625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IN" sz="900" dirty="0">
                <a:solidFill>
                  <a:srgbClr val="225F8C"/>
                </a:solidFill>
                <a:latin typeface="Arial"/>
              </a:rPr>
              <a:t> </a:t>
            </a:r>
            <a:r>
              <a:rPr sz="900" dirty="0">
                <a:solidFill>
                  <a:srgbClr val="225F8C"/>
                </a:solidFill>
                <a:latin typeface="Arial"/>
              </a:rPr>
              <a:t>Combines multiple parameters (multivariate)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89135" y="5106255"/>
            <a:ext cx="296507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sz="900" dirty="0">
                <a:solidFill>
                  <a:srgbClr val="236695"/>
                </a:solidFill>
                <a:latin typeface="Arial"/>
              </a:rPr>
              <a:t>Configurable safety policy aligned with mission requirements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6991" y="5547360"/>
            <a:ext cx="1883663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4" b="1">
                <a:solidFill>
                  <a:srgbClr val="08236E"/>
                </a:solidFill>
                <a:latin typeface="Arial"/>
              </a:rPr>
              <a:t>Key Differences at a Glance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91327" y="6078715"/>
            <a:ext cx="692497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2865B0"/>
                </a:solidFill>
                <a:latin typeface="Arial"/>
              </a:rPr>
              <a:t>Isolation Forest +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54239" y="6081763"/>
            <a:ext cx="545021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1B5AAB"/>
                </a:solidFill>
                <a:latin typeface="Arial"/>
              </a:rPr>
              <a:t>168h forecast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167871" y="6084811"/>
            <a:ext cx="628377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2061A9"/>
                </a:solidFill>
                <a:latin typeface="Arial"/>
              </a:rPr>
              <a:t>Parameter-wise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44751" y="6130531"/>
            <a:ext cx="628377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225FAB"/>
                </a:solidFill>
                <a:latin typeface="Arial"/>
              </a:rPr>
              <a:t>Lea</a:t>
            </a:r>
            <a:r>
              <a:rPr lang="en-IN" sz="700" dirty="0" err="1">
                <a:solidFill>
                  <a:srgbClr val="225FAB"/>
                </a:solidFill>
                <a:latin typeface="Arial"/>
              </a:rPr>
              <a:t>rn</a:t>
            </a:r>
            <a:r>
              <a:rPr sz="700" dirty="0">
                <a:solidFill>
                  <a:srgbClr val="225FAB"/>
                </a:solidFill>
                <a:latin typeface="Arial"/>
              </a:rPr>
              <a:t>ed normal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01567" y="6133579"/>
            <a:ext cx="546625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2264B1"/>
                </a:solidFill>
                <a:latin typeface="Arial"/>
              </a:rPr>
              <a:t>Time-series +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04959" y="6151867"/>
            <a:ext cx="756617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1B5DA9"/>
                </a:solidFill>
                <a:latin typeface="Arial"/>
              </a:rPr>
              <a:t>Prediction intervals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6719" y="6203683"/>
            <a:ext cx="447238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2B5185"/>
                </a:solidFill>
                <a:latin typeface="Arial"/>
              </a:rPr>
              <a:t>Fixed limits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50847" y="6270739"/>
            <a:ext cx="421590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2862AD"/>
                </a:solidFill>
                <a:latin typeface="Arial"/>
              </a:rPr>
              <a:t>behavior +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77439" y="6215875"/>
            <a:ext cx="447238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295587"/>
                </a:solidFill>
                <a:latin typeface="Arial"/>
              </a:rPr>
              <a:t>Single-time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91327" y="6212827"/>
            <a:ext cx="654025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2362AB"/>
                </a:solidFill>
                <a:latin typeface="Arial"/>
              </a:rPr>
              <a:t>Robust statistics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254239" y="6230112"/>
            <a:ext cx="761999" cy="975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6" dirty="0">
                <a:solidFill>
                  <a:srgbClr val="1B5BAB"/>
                </a:solidFill>
                <a:latin typeface="Arial"/>
              </a:rPr>
              <a:t>(Gradient Boosting)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159489" y="6219926"/>
            <a:ext cx="344646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1F5EA7"/>
                </a:solidFill>
                <a:latin typeface="Arial"/>
              </a:rPr>
              <a:t>reasons,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0623" y="6358128"/>
            <a:ext cx="646175" cy="975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6" dirty="0">
                <a:solidFill>
                  <a:srgbClr val="325A8F"/>
                </a:solidFill>
                <a:latin typeface="Arial"/>
              </a:rPr>
              <a:t>(per parameter)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377439" y="6349987"/>
            <a:ext cx="549831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2A5287"/>
                </a:solidFill>
                <a:latin typeface="Arial"/>
              </a:rPr>
              <a:t>measurement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13759" y="6250406"/>
            <a:ext cx="490519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1658A9"/>
                </a:solidFill>
                <a:latin typeface="Arial"/>
              </a:rPr>
              <a:t>population +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291327" y="6358128"/>
            <a:ext cx="518159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62" dirty="0">
                <a:solidFill>
                  <a:srgbClr val="2E69B1"/>
                </a:solidFill>
                <a:latin typeface="Arial"/>
              </a:rPr>
              <a:t>(MAD, 1GR) +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21551" y="6285979"/>
            <a:ext cx="516167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305F9C"/>
                </a:solidFill>
                <a:latin typeface="Arial"/>
              </a:rPr>
              <a:t>Not available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54239" y="6356083"/>
            <a:ext cx="623569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1D5CAC"/>
                </a:solidFill>
                <a:latin typeface="Arial"/>
              </a:rPr>
              <a:t>with uncertainty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98863" y="6285979"/>
            <a:ext cx="769441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2665AD"/>
                </a:solidFill>
                <a:latin typeface="Arial"/>
              </a:rPr>
              <a:t>and OOD detection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41279" y="6295123"/>
            <a:ext cx="556243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2D60A1"/>
                </a:solidFill>
                <a:latin typeface="Arial"/>
              </a:rPr>
              <a:t>Pass/Fail only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161775" y="6364224"/>
            <a:ext cx="560831" cy="853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18">
                <a:solidFill>
                  <a:srgbClr val="1B60AD"/>
                </a:solidFill>
                <a:latin typeface="Arial"/>
              </a:rPr>
              <a:t>contributions,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450847" y="6425184"/>
            <a:ext cx="591311" cy="975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6" dirty="0">
                <a:solidFill>
                  <a:srgbClr val="1E5DAB"/>
                </a:solidFill>
                <a:latin typeface="Arial"/>
              </a:rPr>
              <a:t>predicted drift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13759" y="6371323"/>
            <a:ext cx="458459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1455A8"/>
                </a:solidFill>
                <a:latin typeface="Arial"/>
              </a:rPr>
              <a:t>multivariate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204959" y="6423139"/>
            <a:ext cx="602729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1659AA"/>
                </a:solidFill>
                <a:latin typeface="Arial"/>
              </a:rPr>
              <a:t>(PCA distance)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291327" y="6478003"/>
            <a:ext cx="702115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2161AC"/>
                </a:solidFill>
                <a:latin typeface="Arial"/>
              </a:rPr>
              <a:t>PCA-based score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54239" y="6484099"/>
            <a:ext cx="474489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dirty="0">
                <a:solidFill>
                  <a:srgbClr val="2567B2"/>
                </a:solidFill>
                <a:latin typeface="Arial"/>
              </a:rPr>
              <a:t>(Conformal)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161775" y="6492240"/>
            <a:ext cx="640079" cy="792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>
                <a:solidFill>
                  <a:srgbClr val="286AB0"/>
                </a:solidFill>
                <a:latin typeface="Arial"/>
              </a:rPr>
              <a:t>counterfactuais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C298A4E5-EAE2-183A-55DC-F5A69F4331F5}"/>
              </a:ext>
            </a:extLst>
          </p:cNvPr>
          <p:cNvSpPr/>
          <p:nvPr/>
        </p:nvSpPr>
        <p:spPr>
          <a:xfrm>
            <a:off x="10326625" y="3861816"/>
            <a:ext cx="597406" cy="2529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50" dirty="0"/>
              <a:t>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76" y="30212"/>
            <a:ext cx="1265998" cy="938372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017" rIns="0" bIns="0" rtlCol="0">
            <a:spAutoFit/>
          </a:bodyPr>
          <a:lstStyle/>
          <a:p>
            <a:pPr marL="2034539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-35" dirty="0"/>
              <a:t> </a:t>
            </a:r>
            <a:r>
              <a:rPr spc="-10" dirty="0"/>
              <a:t>APPROACH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0212"/>
            <a:ext cx="12125186" cy="6727097"/>
            <a:chOff x="0" y="89629"/>
            <a:chExt cx="12125186" cy="6727097"/>
          </a:xfrm>
          <a:solidFill>
            <a:srgbClr val="EAF6F4"/>
          </a:solidFill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0085" y="89629"/>
              <a:ext cx="2249849" cy="974206"/>
            </a:xfrm>
            <a:prstGeom prst="rect">
              <a:avLst/>
            </a:prstGeom>
            <a:grpFill/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063835"/>
              <a:ext cx="12125186" cy="5752891"/>
            </a:xfrm>
            <a:prstGeom prst="rect">
              <a:avLst/>
            </a:prstGeom>
            <a:grpFill/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CA29D65-C079-BD12-A398-ED9EC30B0A8A}"/>
              </a:ext>
            </a:extLst>
          </p:cNvPr>
          <p:cNvSpPr txBox="1"/>
          <p:nvPr/>
        </p:nvSpPr>
        <p:spPr>
          <a:xfrm>
            <a:off x="609600" y="1447800"/>
            <a:ext cx="1143000" cy="246221"/>
          </a:xfrm>
          <a:prstGeom prst="rect">
            <a:avLst/>
          </a:prstGeom>
          <a:solidFill>
            <a:srgbClr val="F9FAFC"/>
          </a:solidFill>
        </p:spPr>
        <p:txBody>
          <a:bodyPr wrap="square" rtlCol="0">
            <a:spAutoFit/>
          </a:bodyPr>
          <a:lstStyle/>
          <a:p>
            <a:r>
              <a:rPr lang="en-US" sz="1000" b="1" dirty="0"/>
              <a:t>CSV/EXCEL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5E9FEC-C980-08A3-57AA-FF474DE1F849}"/>
              </a:ext>
            </a:extLst>
          </p:cNvPr>
          <p:cNvSpPr txBox="1"/>
          <p:nvPr/>
        </p:nvSpPr>
        <p:spPr>
          <a:xfrm>
            <a:off x="609600" y="1650667"/>
            <a:ext cx="1143000" cy="215444"/>
          </a:xfrm>
          <a:prstGeom prst="rect">
            <a:avLst/>
          </a:prstGeom>
          <a:solidFill>
            <a:srgbClr val="F7FEFE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Parametric test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54112E-0313-CEF5-79EC-0183D7319DF8}"/>
              </a:ext>
            </a:extLst>
          </p:cNvPr>
          <p:cNvSpPr txBox="1"/>
          <p:nvPr/>
        </p:nvSpPr>
        <p:spPr>
          <a:xfrm>
            <a:off x="609600" y="1970370"/>
            <a:ext cx="1143000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1000" b="1" dirty="0"/>
              <a:t>Test Logs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68E464-8CB1-3BEA-B0CE-9E2C7C2A64D0}"/>
              </a:ext>
            </a:extLst>
          </p:cNvPr>
          <p:cNvSpPr txBox="1"/>
          <p:nvPr/>
        </p:nvSpPr>
        <p:spPr>
          <a:xfrm>
            <a:off x="609600" y="2155685"/>
            <a:ext cx="1143000" cy="338554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Burn in telemetry</a:t>
            </a:r>
          </a:p>
          <a:p>
            <a:r>
              <a:rPr lang="en-US" sz="800" dirty="0"/>
              <a:t>0h,24h,96h,168h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7612C-4AD8-DF91-847B-74BA270AE24A}"/>
              </a:ext>
            </a:extLst>
          </p:cNvPr>
          <p:cNvSpPr txBox="1"/>
          <p:nvPr/>
        </p:nvSpPr>
        <p:spPr>
          <a:xfrm>
            <a:off x="525812" y="2633246"/>
            <a:ext cx="1302988" cy="246221"/>
          </a:xfrm>
          <a:prstGeom prst="rect">
            <a:avLst/>
          </a:prstGeom>
          <a:solidFill>
            <a:srgbClr val="FCFAFD"/>
          </a:solidFill>
        </p:spPr>
        <p:txBody>
          <a:bodyPr wrap="square" rtlCol="0">
            <a:spAutoFit/>
          </a:bodyPr>
          <a:lstStyle/>
          <a:p>
            <a:r>
              <a:rPr lang="en-US" sz="1000" b="1" dirty="0"/>
              <a:t>Databases</a:t>
            </a:r>
            <a:r>
              <a:rPr lang="en-US" sz="1000" dirty="0"/>
              <a:t> / </a:t>
            </a:r>
            <a:r>
              <a:rPr lang="en-US" sz="1000" b="1" dirty="0"/>
              <a:t>APIs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946B7C-C55F-A0F6-29BB-58154438342B}"/>
              </a:ext>
            </a:extLst>
          </p:cNvPr>
          <p:cNvSpPr txBox="1"/>
          <p:nvPr/>
        </p:nvSpPr>
        <p:spPr>
          <a:xfrm>
            <a:off x="585019" y="2849197"/>
            <a:ext cx="1143000" cy="338554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Existing ISRO / partner systems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37FBAC-AB5B-D6CC-482C-C7F84FB9A3FD}"/>
              </a:ext>
            </a:extLst>
          </p:cNvPr>
          <p:cNvSpPr txBox="1"/>
          <p:nvPr/>
        </p:nvSpPr>
        <p:spPr>
          <a:xfrm>
            <a:off x="557682" y="3250259"/>
            <a:ext cx="1194918" cy="50783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Multiple Component Families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404FE3-C97A-2AF0-C65D-B0AED5FB2384}"/>
              </a:ext>
            </a:extLst>
          </p:cNvPr>
          <p:cNvSpPr txBox="1"/>
          <p:nvPr/>
        </p:nvSpPr>
        <p:spPr>
          <a:xfrm>
            <a:off x="525812" y="3758090"/>
            <a:ext cx="990600" cy="338554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MMIC, Analog, Digital, Discrete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39C5E0-7809-A52B-A390-CB112E14682C}"/>
              </a:ext>
            </a:extLst>
          </p:cNvPr>
          <p:cNvSpPr txBox="1"/>
          <p:nvPr/>
        </p:nvSpPr>
        <p:spPr>
          <a:xfrm>
            <a:off x="1981200" y="2324962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F127E0-4053-217C-CBAC-D7AF7692249D}"/>
              </a:ext>
            </a:extLst>
          </p:cNvPr>
          <p:cNvSpPr txBox="1"/>
          <p:nvPr/>
        </p:nvSpPr>
        <p:spPr>
          <a:xfrm>
            <a:off x="2438400" y="1346763"/>
            <a:ext cx="1143000" cy="246221"/>
          </a:xfrm>
          <a:prstGeom prst="rect">
            <a:avLst/>
          </a:prstGeom>
          <a:solidFill>
            <a:srgbClr val="E9F4F6"/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Schema Mapping</a:t>
            </a:r>
            <a:r>
              <a:rPr lang="en-US" sz="1000" dirty="0"/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042D78-C869-010C-E812-D190A2DA667B}"/>
              </a:ext>
            </a:extLst>
          </p:cNvPr>
          <p:cNvSpPr txBox="1"/>
          <p:nvPr/>
        </p:nvSpPr>
        <p:spPr>
          <a:xfrm>
            <a:off x="2509684" y="1542620"/>
            <a:ext cx="1143000" cy="200055"/>
          </a:xfrm>
          <a:prstGeom prst="rect">
            <a:avLst/>
          </a:prstGeom>
          <a:solidFill>
            <a:srgbClr val="EAF6F4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Column mapping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F79D5-EE6F-8DC9-ED02-3CA7D2149ECD}"/>
              </a:ext>
            </a:extLst>
          </p:cNvPr>
          <p:cNvSpPr txBox="1"/>
          <p:nvPr/>
        </p:nvSpPr>
        <p:spPr>
          <a:xfrm>
            <a:off x="2509684" y="1687061"/>
            <a:ext cx="1300316" cy="215444"/>
          </a:xfrm>
          <a:prstGeom prst="rect">
            <a:avLst/>
          </a:prstGeom>
          <a:solidFill>
            <a:srgbClr val="EAF6F4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Unit normalization</a:t>
            </a:r>
            <a:endParaRPr lang="en-US" sz="7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1D24F6-3EB5-5288-1C92-9EB1B2AF718A}"/>
              </a:ext>
            </a:extLst>
          </p:cNvPr>
          <p:cNvSpPr txBox="1"/>
          <p:nvPr/>
        </p:nvSpPr>
        <p:spPr>
          <a:xfrm>
            <a:off x="2509684" y="1856431"/>
            <a:ext cx="1300316" cy="215444"/>
          </a:xfrm>
          <a:prstGeom prst="rect">
            <a:avLst/>
          </a:prstGeom>
          <a:solidFill>
            <a:srgbClr val="EAF6F4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Type inference </a:t>
            </a:r>
            <a:endParaRPr lang="en-US" sz="7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4272BC-9388-0B97-54B6-D769FDC659AD}"/>
              </a:ext>
            </a:extLst>
          </p:cNvPr>
          <p:cNvSpPr txBox="1"/>
          <p:nvPr/>
        </p:nvSpPr>
        <p:spPr>
          <a:xfrm>
            <a:off x="2426110" y="2145009"/>
            <a:ext cx="1440426" cy="230832"/>
          </a:xfrm>
          <a:prstGeom prst="rect">
            <a:avLst/>
          </a:prstGeom>
          <a:solidFill>
            <a:srgbClr val="E9F4F6"/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Validation &amp; Cleaning:</a:t>
            </a:r>
            <a:endParaRPr lang="en-US" sz="84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AB36B9-67F5-2C45-FCBE-824E960AB687}"/>
              </a:ext>
            </a:extLst>
          </p:cNvPr>
          <p:cNvSpPr txBox="1"/>
          <p:nvPr/>
        </p:nvSpPr>
        <p:spPr>
          <a:xfrm>
            <a:off x="2450690" y="2299556"/>
            <a:ext cx="1143000" cy="200055"/>
          </a:xfrm>
          <a:prstGeom prst="rect">
            <a:avLst/>
          </a:prstGeom>
          <a:solidFill>
            <a:srgbClr val="EAF6F4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Missing values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B74E07-A519-2415-7EAD-E3E28908E39F}"/>
              </a:ext>
            </a:extLst>
          </p:cNvPr>
          <p:cNvSpPr txBox="1"/>
          <p:nvPr/>
        </p:nvSpPr>
        <p:spPr>
          <a:xfrm>
            <a:off x="2434546" y="2448975"/>
            <a:ext cx="1349477" cy="338554"/>
          </a:xfrm>
          <a:prstGeom prst="rect">
            <a:avLst/>
          </a:prstGeom>
          <a:solidFill>
            <a:srgbClr val="EAF6F4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Range &amp; consistency checks</a:t>
            </a:r>
            <a:endParaRPr lang="en-US" sz="7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6F93A9-39F8-04BC-5A0D-FE182D418BC4}"/>
              </a:ext>
            </a:extLst>
          </p:cNvPr>
          <p:cNvSpPr txBox="1"/>
          <p:nvPr/>
        </p:nvSpPr>
        <p:spPr>
          <a:xfrm>
            <a:off x="2472813" y="2941530"/>
            <a:ext cx="1280651" cy="246221"/>
          </a:xfrm>
          <a:prstGeom prst="rect">
            <a:avLst/>
          </a:prstGeom>
          <a:solidFill>
            <a:srgbClr val="E9F4F6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Canonical Format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AFFC3A4-F06B-2C97-0D61-A248D50E940A}"/>
                  </a:ext>
                </a:extLst>
              </p:cNvPr>
              <p:cNvSpPr txBox="1"/>
              <p:nvPr/>
            </p:nvSpPr>
            <p:spPr>
              <a:xfrm>
                <a:off x="2483707" y="3187751"/>
                <a:ext cx="1349476" cy="843885"/>
              </a:xfrm>
              <a:prstGeom prst="rect">
                <a:avLst/>
              </a:prstGeom>
              <a:solidFill>
                <a:srgbClr val="EAF6F4"/>
              </a:solidFill>
            </p:spPr>
            <p:txBody>
              <a:bodyPr wrap="squar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7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700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700" b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7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7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700" b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7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7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700" b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7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7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700" b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700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700" b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700" b="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700" b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700" b="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700" b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700" i="0"/>
                            <m:t>meta</m:t>
                          </m:r>
                        </m:e>
                      </m:d>
                    </m:oMath>
                  </m:oMathPara>
                </a14:m>
                <a:endParaRPr lang="en-US" sz="7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700" b="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700" dirty="0"/>
                  <a:t>: electrical parameters | </a:t>
                </a:r>
                <a14:m>
                  <m:oMath xmlns:m="http://schemas.openxmlformats.org/officeDocument/2006/math">
                    <m:r>
                      <a:rPr lang="en-US" sz="700" b="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700" dirty="0"/>
                  <a:t>: time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7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700" dirty="0"/>
                  <a:t>: temperature | </a:t>
                </a:r>
                <a14:m>
                  <m:oMath xmlns:m="http://schemas.openxmlformats.org/officeDocument/2006/math">
                    <m:r>
                      <a:rPr lang="en-US" sz="700" b="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700" dirty="0"/>
                  <a:t>: voltage 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700" i="0"/>
                      <m:t>meta</m:t>
                    </m:r>
                  </m:oMath>
                </a14:m>
                <a:r>
                  <a:rPr lang="en-US" sz="700" dirty="0"/>
                  <a:t>: family, lot, test conditions, ... 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AFFC3A4-F06B-2C97-0D61-A248D50E9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07" y="3187751"/>
                <a:ext cx="1349476" cy="843885"/>
              </a:xfrm>
              <a:prstGeom prst="rect">
                <a:avLst/>
              </a:prstGeom>
              <a:blipFill>
                <a:blip r:embed="Rf56b378224fc470b"/>
                <a:stretch>
                  <a:fillRect b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F27BB042-2275-B3E0-AE29-D08C292B6A64}"/>
              </a:ext>
            </a:extLst>
          </p:cNvPr>
          <p:cNvSpPr txBox="1"/>
          <p:nvPr/>
        </p:nvSpPr>
        <p:spPr>
          <a:xfrm>
            <a:off x="2509684" y="3862581"/>
            <a:ext cx="1243780" cy="369332"/>
          </a:xfrm>
          <a:prstGeom prst="rect">
            <a:avLst/>
          </a:prstGeom>
          <a:solidFill>
            <a:srgbClr val="EAF6F4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34F327-C8A7-951A-A127-ECACDCA3154F}"/>
              </a:ext>
            </a:extLst>
          </p:cNvPr>
          <p:cNvSpPr txBox="1"/>
          <p:nvPr/>
        </p:nvSpPr>
        <p:spPr>
          <a:xfrm>
            <a:off x="3959776" y="1628797"/>
            <a:ext cx="449992" cy="207749"/>
          </a:xfrm>
          <a:prstGeom prst="rect">
            <a:avLst/>
          </a:prstGeom>
          <a:solidFill>
            <a:srgbClr val="ECF7FD"/>
          </a:solidFill>
        </p:spPr>
        <p:txBody>
          <a:bodyPr wrap="square" rtlCol="0">
            <a:spAutoFit/>
          </a:bodyPr>
          <a:lstStyle/>
          <a:p>
            <a:r>
              <a:rPr lang="en-US" sz="750" dirty="0"/>
              <a:t>Field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BA3314-E819-09F0-F3D3-B2B66456B6CB}"/>
              </a:ext>
            </a:extLst>
          </p:cNvPr>
          <p:cNvSpPr txBox="1"/>
          <p:nvPr/>
        </p:nvSpPr>
        <p:spPr>
          <a:xfrm>
            <a:off x="4648200" y="1642647"/>
            <a:ext cx="449992" cy="193899"/>
          </a:xfrm>
          <a:prstGeom prst="rect">
            <a:avLst/>
          </a:prstGeom>
          <a:solidFill>
            <a:srgbClr val="ECF7FD"/>
          </a:solidFill>
        </p:spPr>
        <p:txBody>
          <a:bodyPr wrap="square" rtlCol="0">
            <a:spAutoFit/>
          </a:bodyPr>
          <a:lstStyle/>
          <a:p>
            <a:r>
              <a:rPr lang="en-US" sz="660" dirty="0"/>
              <a:t>Value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00C4E3-DC71-E092-CA5B-F3093EA6668C}"/>
              </a:ext>
            </a:extLst>
          </p:cNvPr>
          <p:cNvSpPr txBox="1"/>
          <p:nvPr/>
        </p:nvSpPr>
        <p:spPr>
          <a:xfrm>
            <a:off x="4038600" y="1902505"/>
            <a:ext cx="528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5B3A8F-D160-4D6F-99C3-5AB201483E7C}"/>
              </a:ext>
            </a:extLst>
          </p:cNvPr>
          <p:cNvSpPr txBox="1"/>
          <p:nvPr/>
        </p:nvSpPr>
        <p:spPr>
          <a:xfrm>
            <a:off x="3866536" y="1411511"/>
            <a:ext cx="1300316" cy="200055"/>
          </a:xfrm>
          <a:prstGeom prst="rect">
            <a:avLst/>
          </a:prstGeom>
          <a:solidFill>
            <a:srgbClr val="F6F8FA"/>
          </a:solidFill>
        </p:spPr>
        <p:txBody>
          <a:bodyPr wrap="square" rtlCol="0">
            <a:spAutoFit/>
          </a:bodyPr>
          <a:lstStyle/>
          <a:p>
            <a:r>
              <a:rPr lang="en-US" sz="700" dirty="0"/>
              <a:t>Canonical format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B1863EF-2706-C0F3-0E2D-E8816690105F}"/>
                  </a:ext>
                </a:extLst>
              </p:cNvPr>
              <p:cNvSpPr txBox="1"/>
              <p:nvPr/>
            </p:nvSpPr>
            <p:spPr>
              <a:xfrm>
                <a:off x="5420852" y="1411511"/>
                <a:ext cx="1506960" cy="818366"/>
              </a:xfrm>
              <a:prstGeom prst="rect">
                <a:avLst/>
              </a:prstGeom>
              <a:solidFill>
                <a:srgbClr val="E8F2FA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700" b="1" dirty="0"/>
                  <a:t>Population Features</a:t>
                </a:r>
                <a:endParaRPr lang="en-US" sz="700" dirty="0"/>
              </a:p>
              <a:p>
                <a:pPr lvl="0"/>
                <a:endParaRPr lang="en-US" sz="700" dirty="0"/>
              </a:p>
              <a:p>
                <a:pPr lvl="1"/>
                <a:r>
                  <a:rPr lang="en-US" sz="700" dirty="0"/>
                  <a:t>• </a:t>
                </a:r>
                <a:r>
                  <a:rPr lang="en-US" sz="650" dirty="0"/>
                  <a:t>2-score (robust) z</a:t>
                </a:r>
                <a14:m>
                  <m:oMath xmlns:m="http://schemas.openxmlformats.org/officeDocument/2006/math">
                    <m:r>
                      <a:rPr lang="en-US" sz="65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6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5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65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650" i="0"/>
                          <m:t>median</m:t>
                        </m:r>
                        <m:d>
                          <m:dPr>
                            <m:ctrlPr>
                              <a:rPr lang="en-US" sz="6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6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650">
                            <a:latin typeface="Cambria Math" panose="02040503050406030204" pitchFamily="18" charset="0"/>
                          </a:rPr>
                          <m:t>1.4826⋅</m:t>
                        </m:r>
                        <m:r>
                          <m:rPr>
                            <m:nor/>
                          </m:rPr>
                          <a:rPr lang="en-US" sz="650" i="0"/>
                          <m:t>MAD</m:t>
                        </m:r>
                      </m:den>
                    </m:f>
                  </m:oMath>
                </a14:m>
                <a:endParaRPr lang="en-US" sz="650" dirty="0"/>
              </a:p>
              <a:p>
                <a:pPr lvl="1"/>
                <a:r>
                  <a:rPr lang="en-US" sz="650" dirty="0"/>
                  <a:t>• Lot-level statistics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5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650" i="0"/>
                          <m:t>lol</m:t>
                        </m:r>
                      </m:sub>
                    </m:sSub>
                    <m:r>
                      <a:rPr lang="en-US" sz="65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5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650" i="0"/>
                          <m:t>lol</m:t>
                        </m:r>
                      </m:sub>
                    </m:sSub>
                  </m:oMath>
                </a14:m>
                <a:r>
                  <a:rPr lang="en-US" sz="650" dirty="0"/>
                  <a:t>)</a:t>
                </a:r>
              </a:p>
              <a:p>
                <a:pPr lvl="1"/>
                <a:r>
                  <a:rPr lang="en-US" sz="650" dirty="0"/>
                  <a:t>• Relative rank, IQR features</a:t>
                </a:r>
              </a:p>
              <a:p>
                <a:endParaRPr lang="en-US" sz="7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B1863EF-2706-C0F3-0E2D-E88166901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852" y="1411511"/>
                <a:ext cx="1506960" cy="818366"/>
              </a:xfrm>
              <a:prstGeom prst="rect">
                <a:avLst/>
              </a:prstGeom>
              <a:blipFill>
                <a:blip r:embed="R2cfb2afc8cf746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D7457E4-3BC7-353A-FFF5-245697DCFD00}"/>
                  </a:ext>
                </a:extLst>
              </p:cNvPr>
              <p:cNvSpPr txBox="1"/>
              <p:nvPr/>
            </p:nvSpPr>
            <p:spPr>
              <a:xfrm>
                <a:off x="5358796" y="2229877"/>
                <a:ext cx="1569016" cy="938719"/>
              </a:xfrm>
              <a:prstGeom prst="rect">
                <a:avLst/>
              </a:prstGeom>
              <a:solidFill>
                <a:srgbClr val="E8F2FA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700" b="1" dirty="0"/>
                  <a:t>Temporal Features</a:t>
                </a:r>
              </a:p>
              <a:p>
                <a:endParaRPr lang="en-US" sz="700" b="1" dirty="0"/>
              </a:p>
              <a:p>
                <a:pPr lvl="0"/>
                <a:r>
                  <a:rPr lang="en-US" sz="650" dirty="0"/>
                  <a:t>•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65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65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650" dirty="0"/>
                  <a:t>, slope, moving statistics </a:t>
                </a:r>
              </a:p>
              <a:p>
                <a:pPr lvl="0"/>
                <a:r>
                  <a:rPr lang="en-US" sz="650" dirty="0"/>
                  <a:t>• Trend indicators over burn-in time </a:t>
                </a:r>
              </a:p>
              <a:p>
                <a:endParaRPr lang="en-US" sz="7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700" dirty="0"/>
              </a:p>
              <a:p>
                <a:pPr marL="171450" lvl="1" indent="-171450">
                  <a:buFont typeface="Arial" panose="020B0604020202020204" pitchFamily="34" charset="0"/>
                  <a:buChar char="•"/>
                </a:pPr>
                <a:endParaRPr lang="en-US" sz="7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7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D7457E4-3BC7-353A-FFF5-245697DCF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796" y="2229877"/>
                <a:ext cx="1569016" cy="938719"/>
              </a:xfrm>
              <a:prstGeom prst="rect">
                <a:avLst/>
              </a:prstGeom>
              <a:blipFill>
                <a:blip r:embed="Red247d8bd6dc4d6b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182376F4-C842-C898-4864-73A0E9308361}"/>
              </a:ext>
            </a:extLst>
          </p:cNvPr>
          <p:cNvSpPr txBox="1"/>
          <p:nvPr/>
        </p:nvSpPr>
        <p:spPr>
          <a:xfrm>
            <a:off x="5420852" y="3048000"/>
            <a:ext cx="1437148" cy="215444"/>
          </a:xfrm>
          <a:prstGeom prst="rect">
            <a:avLst/>
          </a:prstGeom>
          <a:solidFill>
            <a:srgbClr val="E8F2FA"/>
          </a:solidFill>
        </p:spPr>
        <p:txBody>
          <a:bodyPr wrap="square" rtlCol="0">
            <a:spAutoFit/>
          </a:bodyPr>
          <a:lstStyle/>
          <a:p>
            <a:r>
              <a:rPr lang="en-US" sz="700" b="1" dirty="0"/>
              <a:t>Multivariate</a:t>
            </a:r>
            <a:r>
              <a:rPr lang="en-US" sz="800" b="1" dirty="0"/>
              <a:t> </a:t>
            </a:r>
            <a:r>
              <a:rPr lang="en-US" sz="700" b="1" dirty="0"/>
              <a:t> Features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6B733C-4826-2150-3AC2-7AA55EB78DEF}"/>
              </a:ext>
            </a:extLst>
          </p:cNvPr>
          <p:cNvSpPr txBox="1"/>
          <p:nvPr/>
        </p:nvSpPr>
        <p:spPr>
          <a:xfrm>
            <a:off x="5456953" y="3250259"/>
            <a:ext cx="1470859" cy="584775"/>
          </a:xfrm>
          <a:prstGeom prst="rect">
            <a:avLst/>
          </a:prstGeom>
          <a:solidFill>
            <a:srgbClr val="E8F2FA"/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sz="650" dirty="0"/>
              <a:t>• PCA components</a:t>
            </a:r>
          </a:p>
          <a:p>
            <a:pPr lvl="0"/>
            <a:r>
              <a:rPr lang="en-US" sz="650" dirty="0"/>
              <a:t>• Cross-parameter ratios</a:t>
            </a:r>
          </a:p>
          <a:p>
            <a:pPr lvl="0"/>
            <a:r>
              <a:rPr lang="en-US" sz="650" dirty="0"/>
              <a:t>• Context features (family, conditions) </a:t>
            </a:r>
          </a:p>
          <a:p>
            <a:pPr lvl="0"/>
            <a:endParaRPr lang="en-US" sz="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9DE559B-C919-4C1B-874E-FA90865D8B98}"/>
                  </a:ext>
                </a:extLst>
              </p:cNvPr>
              <p:cNvSpPr txBox="1"/>
              <p:nvPr/>
            </p:nvSpPr>
            <p:spPr>
              <a:xfrm>
                <a:off x="5358796" y="3862581"/>
                <a:ext cx="1506960" cy="347659"/>
              </a:xfrm>
              <a:prstGeom prst="rect">
                <a:avLst/>
              </a:prstGeom>
              <a:solidFill>
                <a:srgbClr val="E8F2FA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800"/>
                  <a:t>Feature Vector </a:t>
                </a:r>
                <a14:m>
                  <m:oMath xmlns:m="http://schemas.openxmlformats.org/officeDocument/2006/math">
                    <m:r>
                      <a:rPr lang="en-US" sz="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8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n-US" sz="8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8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8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8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800" i="1"/>
                  <a:t>(or </a:t>
                </a:r>
                <a14:m>
                  <m:oMath xmlns:m="http://schemas.openxmlformats.org/officeDocument/2006/math">
                    <m:r>
                      <a:rPr lang="en-US" sz="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en-US" sz="8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8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8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8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800" i="1"/>
                  <a:t>)</a:t>
                </a:r>
                <a:endParaRPr lang="en-US" sz="7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9DE559B-C919-4C1B-874E-FA90865D8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796" y="3862581"/>
                <a:ext cx="1506960" cy="347659"/>
              </a:xfrm>
              <a:prstGeom prst="rect">
                <a:avLst/>
              </a:prstGeom>
              <a:blipFill>
                <a:blip r:embed="R51ad13d6f2be434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1FCC7F8E-FA0A-580D-1FB4-816A92C96B23}"/>
              </a:ext>
            </a:extLst>
          </p:cNvPr>
          <p:cNvSpPr txBox="1"/>
          <p:nvPr/>
        </p:nvSpPr>
        <p:spPr>
          <a:xfrm>
            <a:off x="7124672" y="1373107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12B4E5C-21D1-CB92-5DDF-1E301E51DF80}"/>
                  </a:ext>
                </a:extLst>
              </p:cNvPr>
              <p:cNvSpPr txBox="1"/>
              <p:nvPr/>
            </p:nvSpPr>
            <p:spPr>
              <a:xfrm>
                <a:off x="7238944" y="1780700"/>
                <a:ext cx="1143000" cy="830997"/>
              </a:xfrm>
              <a:prstGeom prst="rect">
                <a:avLst/>
              </a:prstGeom>
              <a:solidFill>
                <a:srgbClr val="FCF7F3"/>
              </a:solidFill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600" dirty="0"/>
                  <a:t>Isolation Forest</a:t>
                </a:r>
              </a:p>
              <a:p>
                <a:pPr lvl="0"/>
                <a:r>
                  <a:rPr lang="en-US" sz="600" dirty="0"/>
                  <a:t>Robust statistics (MAD, IQR)</a:t>
                </a:r>
              </a:p>
              <a:p>
                <a:pPr lvl="0"/>
                <a:r>
                  <a:rPr lang="en-US" sz="600" dirty="0"/>
                  <a:t>PCA-based multivariate score</a:t>
                </a:r>
              </a:p>
              <a:p>
                <a:pPr lvl="0"/>
                <a:r>
                  <a:rPr lang="en-US" sz="600" dirty="0"/>
                  <a:t>Temporal deviation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6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600" dirty="0"/>
                  <a:t>, slope)</a:t>
                </a:r>
              </a:p>
              <a:p>
                <a:endParaRPr lang="en-US" sz="6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12B4E5C-21D1-CB92-5DDF-1E301E51D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944" y="1780700"/>
                <a:ext cx="1143000" cy="830997"/>
              </a:xfrm>
              <a:prstGeom prst="rect">
                <a:avLst/>
              </a:prstGeom>
              <a:blipFill>
                <a:blip r:embed="R38e2d941a66d4e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841F110-2909-E3F7-2F4B-52240E2BDFE5}"/>
                  </a:ext>
                </a:extLst>
              </p:cNvPr>
              <p:cNvSpPr txBox="1"/>
              <p:nvPr/>
            </p:nvSpPr>
            <p:spPr>
              <a:xfrm>
                <a:off x="7124672" y="1794783"/>
                <a:ext cx="1333528" cy="769441"/>
              </a:xfrm>
              <a:prstGeom prst="rect">
                <a:avLst/>
              </a:prstGeom>
              <a:solidFill>
                <a:srgbClr val="FCF7F3"/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600" dirty="0"/>
                  <a:t>Isolation Forest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600" dirty="0"/>
                  <a:t>Robust statistics (MAD, IQR)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600" dirty="0"/>
                  <a:t>PCA-based multivariate score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600" dirty="0"/>
                  <a:t>Temporal deviation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6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600" dirty="0"/>
                  <a:t>, slope</a:t>
                </a:r>
                <a:r>
                  <a:rPr lang="en-US" sz="800" dirty="0"/>
                  <a:t>)</a:t>
                </a:r>
                <a:endParaRPr lang="en-US" sz="6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841F110-2909-E3F7-2F4B-52240E2BD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672" y="1794783"/>
                <a:ext cx="1333528" cy="769441"/>
              </a:xfrm>
              <a:prstGeom prst="rect">
                <a:avLst/>
              </a:prstGeom>
              <a:blipFill>
                <a:blip r:embed="R4afaa470217c4cfa"/>
                <a:stretch>
                  <a:fillRect b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B73AE333-5E7E-49BC-8A08-40DAED84563D}"/>
              </a:ext>
            </a:extLst>
          </p:cNvPr>
          <p:cNvSpPr txBox="1"/>
          <p:nvPr/>
        </p:nvSpPr>
        <p:spPr>
          <a:xfrm>
            <a:off x="8516780" y="1836546"/>
            <a:ext cx="1263305" cy="830997"/>
          </a:xfrm>
          <a:prstGeom prst="rect">
            <a:avLst/>
          </a:prstGeom>
          <a:solidFill>
            <a:srgbClr val="F3F2F8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Gradient Boosting Regressor 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Multi-output (per parameter)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Trained on early observations (0h, 24h, ...)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Prediction intervals (conformal)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D78E6E1-ACDB-4FF1-12BA-67C2BBF799C3}"/>
                  </a:ext>
                </a:extLst>
              </p:cNvPr>
              <p:cNvSpPr txBox="1"/>
              <p:nvPr/>
            </p:nvSpPr>
            <p:spPr>
              <a:xfrm>
                <a:off x="7172960" y="2998656"/>
                <a:ext cx="1257272" cy="637482"/>
              </a:xfrm>
              <a:prstGeom prst="rect">
                <a:avLst/>
              </a:prstGeom>
              <a:solidFill>
                <a:srgbClr val="FAF0E7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700">
                          <a:latin typeface="Cambria Math" panose="02040503050406030204" pitchFamily="18" charset="0"/>
                        </a:rPr>
                        <m:t>=10⋅</m:t>
                      </m:r>
                      <m:sSub>
                        <m:sSub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700" i="0"/>
                            <m:t>pop</m:t>
                          </m:r>
                        </m:sub>
                      </m:sSub>
                      <m:r>
                        <a:rPr lang="en-US" sz="700">
                          <a:latin typeface="Cambria Math" panose="02040503050406030204" pitchFamily="18" charset="0"/>
                        </a:rPr>
                        <m:t>+10⋅</m:t>
                      </m:r>
                      <m:sSub>
                        <m:sSub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700" i="0"/>
                            <m:t>time</m:t>
                          </m:r>
                        </m:sub>
                      </m:sSub>
                      <m:r>
                        <a:rPr lang="en-US" sz="700">
                          <a:latin typeface="Cambria Math" panose="02040503050406030204" pitchFamily="18" charset="0"/>
                        </a:rPr>
                        <m:t>+10⋅</m:t>
                      </m:r>
                      <m:sSub>
                        <m:sSub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700" i="0"/>
                            <m:t>frame</m:t>
                          </m:r>
                        </m:sub>
                      </m:sSub>
                    </m:oMath>
                  </m:oMathPara>
                </a14:m>
                <a:endParaRPr lang="en-US" sz="7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70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7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70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700" dirty="0"/>
              </a:p>
              <a:p>
                <a:endParaRPr lang="en-US" sz="6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D78E6E1-ACDB-4FF1-12BA-67C2BBF79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960" y="2998656"/>
                <a:ext cx="1257272" cy="637482"/>
              </a:xfrm>
              <a:prstGeom prst="rect">
                <a:avLst/>
              </a:prstGeom>
              <a:blipFill>
                <a:blip r:embed="R9274ebcc27e541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42A84F4-509D-2942-9A91-6C2913C20658}"/>
                  </a:ext>
                </a:extLst>
              </p:cNvPr>
              <p:cNvSpPr txBox="1"/>
              <p:nvPr/>
            </p:nvSpPr>
            <p:spPr>
              <a:xfrm>
                <a:off x="8551582" y="2996512"/>
                <a:ext cx="1228503" cy="533864"/>
              </a:xfrm>
              <a:prstGeom prst="rect">
                <a:avLst/>
              </a:prstGeom>
              <a:solidFill>
                <a:srgbClr val="EFEFFB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sz="7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7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700">
                              <a:latin typeface="Cambria Math" panose="02040503050406030204" pitchFamily="18" charset="0"/>
                            </a:rPr>
                            <m:t>168</m:t>
                          </m:r>
                        </m:sub>
                      </m:sSub>
                      <m:r>
                        <a:rPr lang="en-US" sz="70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7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US" sz="7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7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70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7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sz="700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sz="700" dirty="0"/>
              </a:p>
              <a:p>
                <a:r>
                  <a:rPr lang="en-US" sz="700" dirty="0"/>
                  <a:t>Drift risk flag if </a:t>
                </a:r>
                <a14:m>
                  <m:oMath xmlns:m="http://schemas.openxmlformats.org/officeDocument/2006/math">
                    <m:r>
                      <a:rPr lang="en-US" sz="7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7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7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700" i="0"/>
                          <m:t>drift</m:t>
                        </m:r>
                      </m:sub>
                    </m:sSub>
                  </m:oMath>
                </a14:m>
                <a:endParaRPr lang="en-US" sz="700" dirty="0"/>
              </a:p>
              <a:p>
                <a:endParaRPr lang="en-US" sz="7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42A84F4-509D-2942-9A91-6C2913C20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582" y="2996512"/>
                <a:ext cx="1228503" cy="533864"/>
              </a:xfrm>
              <a:prstGeom prst="rect">
                <a:avLst/>
              </a:prstGeom>
              <a:blipFill>
                <a:blip r:embed="Rba8258afec78478c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823E0423-164E-85BB-9AD6-6811546571BF}"/>
              </a:ext>
            </a:extLst>
          </p:cNvPr>
          <p:cNvSpPr txBox="1"/>
          <p:nvPr/>
        </p:nvSpPr>
        <p:spPr>
          <a:xfrm>
            <a:off x="1177306" y="5105400"/>
            <a:ext cx="1273384" cy="200055"/>
          </a:xfrm>
          <a:prstGeom prst="rect">
            <a:avLst/>
          </a:prstGeom>
          <a:solidFill>
            <a:srgbClr val="F3F2F8"/>
          </a:solidFill>
        </p:spPr>
        <p:txBody>
          <a:bodyPr wrap="square" rtlCol="0">
            <a:spAutoFit/>
          </a:bodyPr>
          <a:lstStyle/>
          <a:p>
            <a:r>
              <a:rPr lang="en-US" sz="700" dirty="0"/>
              <a:t>With in expected behavior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74BB4ED-3D8D-FEA9-E81E-97CA9FA32554}"/>
              </a:ext>
            </a:extLst>
          </p:cNvPr>
          <p:cNvSpPr txBox="1"/>
          <p:nvPr/>
        </p:nvSpPr>
        <p:spPr>
          <a:xfrm>
            <a:off x="1177306" y="5334000"/>
            <a:ext cx="1257240" cy="307777"/>
          </a:xfrm>
          <a:prstGeom prst="rect">
            <a:avLst/>
          </a:prstGeom>
          <a:solidFill>
            <a:srgbClr val="F3F2F9"/>
          </a:solidFill>
        </p:spPr>
        <p:txBody>
          <a:bodyPr wrap="square" rtlCol="0">
            <a:spAutoFit/>
          </a:bodyPr>
          <a:lstStyle/>
          <a:p>
            <a:r>
              <a:rPr lang="en-US" sz="700" dirty="0"/>
              <a:t>Requires engineering attention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BE21A39-28F5-613B-CD2E-4424B5862DBD}"/>
              </a:ext>
            </a:extLst>
          </p:cNvPr>
          <p:cNvSpPr txBox="1"/>
          <p:nvPr/>
        </p:nvSpPr>
        <p:spPr>
          <a:xfrm>
            <a:off x="1177305" y="5693944"/>
            <a:ext cx="1306401" cy="200055"/>
          </a:xfrm>
          <a:prstGeom prst="rect">
            <a:avLst/>
          </a:prstGeom>
          <a:solidFill>
            <a:srgbClr val="F3F3FB"/>
          </a:solidFill>
        </p:spPr>
        <p:txBody>
          <a:bodyPr wrap="square" rtlCol="0">
            <a:spAutoFit/>
          </a:bodyPr>
          <a:lstStyle/>
          <a:p>
            <a:r>
              <a:rPr lang="en-US" sz="700" dirty="0"/>
              <a:t>High risk of future failure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6645F11-E547-1423-AD22-F796D1646018}"/>
              </a:ext>
            </a:extLst>
          </p:cNvPr>
          <p:cNvSpPr txBox="1"/>
          <p:nvPr/>
        </p:nvSpPr>
        <p:spPr>
          <a:xfrm>
            <a:off x="1177305" y="6096000"/>
            <a:ext cx="1413495" cy="200055"/>
          </a:xfrm>
          <a:prstGeom prst="rect">
            <a:avLst/>
          </a:prstGeom>
          <a:solidFill>
            <a:srgbClr val="F3F3FB"/>
          </a:solidFill>
        </p:spPr>
        <p:txBody>
          <a:bodyPr wrap="square" rtlCol="0">
            <a:spAutoFit/>
          </a:bodyPr>
          <a:lstStyle/>
          <a:p>
            <a:r>
              <a:rPr lang="en-US" sz="700" dirty="0"/>
              <a:t>Out-of-distribution component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B1BC82D-D424-2C05-31B7-B10A8EC99C56}"/>
              </a:ext>
            </a:extLst>
          </p:cNvPr>
          <p:cNvSpPr txBox="1"/>
          <p:nvPr/>
        </p:nvSpPr>
        <p:spPr>
          <a:xfrm>
            <a:off x="2669458" y="4876442"/>
            <a:ext cx="2497394" cy="781752"/>
          </a:xfrm>
          <a:prstGeom prst="rect">
            <a:avLst/>
          </a:prstGeom>
          <a:solidFill>
            <a:srgbClr val="F5F4FA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40" dirty="0"/>
              <a:t>Top contributing parameters (SHAP)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40" dirty="0"/>
              <a:t>Direction of impact (↑ / ↓)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40" dirty="0"/>
              <a:t>Counterfactual suggestion (what change could make it pass)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40" dirty="0"/>
              <a:t>Human-readable reason codes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630" dirty="0"/>
          </a:p>
          <a:p>
            <a:endParaRPr lang="en-US" sz="65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67D1330-B698-6B54-DD4E-7EEA0D947A28}"/>
              </a:ext>
            </a:extLst>
          </p:cNvPr>
          <p:cNvSpPr txBox="1"/>
          <p:nvPr/>
        </p:nvSpPr>
        <p:spPr>
          <a:xfrm>
            <a:off x="5439396" y="4876442"/>
            <a:ext cx="2362200" cy="664797"/>
          </a:xfrm>
          <a:prstGeom prst="rect">
            <a:avLst/>
          </a:prstGeom>
          <a:solidFill>
            <a:srgbClr val="F5F5FD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20" dirty="0"/>
              <a:t>Parameter plots (measured vs. predicted with interval)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20" dirty="0"/>
              <a:t>Anomaly score breakdown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20" dirty="0"/>
              <a:t>Final decision with reasons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20" dirty="0"/>
              <a:t>Full traceability (input → cutup)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20" dirty="0"/>
              <a:t>Measured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20" dirty="0"/>
              <a:t>Predicted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941FE28-C093-AD72-5550-430C942CB2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9381" y="1411511"/>
            <a:ext cx="1277948" cy="2620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550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FEASIBILITY AND VIABILITY</a:t>
            </a:r>
            <a:endParaRPr/>
          </a:p>
        </p:txBody>
      </p:sp>
      <p:sp>
        <p:nvSpPr>
          <p:cNvPr id="1443257548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2800">
                <a:solidFill>
                  <a:prstClr val="black"/>
                </a:solidFill>
                <a:latin typeface="Arial"/>
                <a:cs typeface="Arial"/>
              </a:rPr>
              <a:t>Analysis of the feasibility of the idea</a:t>
            </a:r>
            <a:endParaRPr lang="en-US" sz="2800" b="0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ea typeface="ＭＳ Ｐゴシック"/>
              <a:cs typeface="Arial"/>
            </a:endParaRPr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2800">
                <a:solidFill>
                  <a:prstClr val="black"/>
                </a:solidFill>
                <a:latin typeface="Arial"/>
                <a:cs typeface="Arial"/>
              </a:rPr>
              <a:t>Potential challenges and risks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2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ＭＳ Ｐゴシック"/>
                <a:cs typeface="Arial"/>
              </a:rPr>
              <a:t>Strategies for overcoming these challenges</a:t>
            </a:r>
          </a:p>
        </p:txBody>
      </p:sp>
      <p:sp>
        <p:nvSpPr>
          <p:cNvPr id="8113925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4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1037587370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2078265057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795958021" name="Picture 79595802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5976" y="30213"/>
            <a:ext cx="1265998" cy="938372"/>
          </a:xfrm>
          <a:prstGeom prst="rect">
            <a:avLst/>
          </a:prstGeom>
        </p:spPr>
      </p:pic>
      <p:pic>
        <p:nvPicPr>
          <p:cNvPr id="1355321647" name="Picture 1355321646"/>
          <p:cNvPicPr>
            <a:picLocks noChangeAspect="1"/>
          </p:cNvPicPr>
          <p:nvPr/>
        </p:nvPicPr>
        <p:blipFill rotWithShape="1">
          <a:blip r:embed="rId5"/>
          <a:srcRect t="10138" b="9305"/>
          <a:stretch/>
        </p:blipFill>
        <p:spPr bwMode="auto">
          <a:xfrm>
            <a:off x="34077" y="1162049"/>
            <a:ext cx="12186357" cy="5524499"/>
          </a:xfrm>
          <a:prstGeom prst="rect">
            <a:avLst/>
          </a:prstGeom>
        </p:spPr>
      </p:pic>
      <p:pic>
        <p:nvPicPr>
          <p:cNvPr id="459078868" name="Picture 459078867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260236" y="1512093"/>
            <a:ext cx="3942944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2831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IMPACT AND BENEFITS</a:t>
            </a:r>
            <a:endParaRPr/>
          </a:p>
        </p:txBody>
      </p:sp>
      <p:sp>
        <p:nvSpPr>
          <p:cNvPr id="14111087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5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316909438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86137246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08889110" name="Picture 150888910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5976" y="30213"/>
            <a:ext cx="1265998" cy="9383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DB03DE-01A9-B40E-F7E1-BD8FDA2066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33555"/>
            <a:ext cx="12192000" cy="5394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465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RESEARCH  AND REFERENCES</a:t>
            </a:r>
            <a:endParaRPr/>
          </a:p>
        </p:txBody>
      </p:sp>
      <p:sp>
        <p:nvSpPr>
          <p:cNvPr id="16585704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6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pic>
        <p:nvPicPr>
          <p:cNvPr id="640694661" name="Pictur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104741847" name="Picture 210474184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5976" y="30213"/>
            <a:ext cx="1265998" cy="938372"/>
          </a:xfrm>
          <a:prstGeom prst="rect">
            <a:avLst/>
          </a:prstGeom>
        </p:spPr>
      </p:pic>
      <p:sp>
        <p:nvSpPr>
          <p:cNvPr id="218718259" name="TextBox 218718258"/>
          <p:cNvSpPr txBox="1"/>
          <p:nvPr/>
        </p:nvSpPr>
        <p:spPr bwMode="auto">
          <a:xfrm>
            <a:off x="944726" y="6210299"/>
            <a:ext cx="10251059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References informed the engineering design; mission-specific limits and acceptance criteria remain to be calibrated against authoritative operational data.</a:t>
            </a:r>
            <a:endParaRPr sz="2200" b="1" i="0"/>
          </a:p>
        </p:txBody>
      </p:sp>
      <p:sp>
        <p:nvSpPr>
          <p:cNvPr id="469954335" name="Rectangle 469954334"/>
          <p:cNvSpPr/>
          <p:nvPr/>
        </p:nvSpPr>
        <p:spPr bwMode="auto">
          <a:xfrm>
            <a:off x="554399" y="1400175"/>
            <a:ext cx="4514850" cy="394694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0886861" name="Rectangle 1840886860"/>
          <p:cNvSpPr/>
          <p:nvPr/>
        </p:nvSpPr>
        <p:spPr bwMode="auto">
          <a:xfrm>
            <a:off x="6669448" y="1352549"/>
            <a:ext cx="3829050" cy="419098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58054439" name="Rectangle 458054438"/>
          <p:cNvSpPr/>
          <p:nvPr/>
        </p:nvSpPr>
        <p:spPr bwMode="auto">
          <a:xfrm>
            <a:off x="6688498" y="4225109"/>
            <a:ext cx="3715470" cy="36612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7252867" name="TextBox 1947252866"/>
          <p:cNvSpPr txBox="1"/>
          <p:nvPr/>
        </p:nvSpPr>
        <p:spPr bwMode="auto">
          <a:xfrm>
            <a:off x="554399" y="1405528"/>
            <a:ext cx="291537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>
                <a:solidFill>
                  <a:schemeClr val="bg1"/>
                </a:solidFill>
              </a:rPr>
              <a:t>Domain / Space Reliability</a:t>
            </a:r>
          </a:p>
        </p:txBody>
      </p:sp>
      <p:sp>
        <p:nvSpPr>
          <p:cNvPr id="236304067" name="TextBox 236304066"/>
          <p:cNvSpPr txBox="1"/>
          <p:nvPr/>
        </p:nvSpPr>
        <p:spPr bwMode="auto">
          <a:xfrm>
            <a:off x="6828304" y="4225109"/>
            <a:ext cx="352285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>
                <a:solidFill>
                  <a:schemeClr val="bg1"/>
                </a:solidFill>
              </a:rPr>
              <a:t>Explainability</a:t>
            </a:r>
          </a:p>
        </p:txBody>
      </p:sp>
      <p:sp>
        <p:nvSpPr>
          <p:cNvPr id="1551534199" name="TextBox 1551534198"/>
          <p:cNvSpPr txBox="1"/>
          <p:nvPr/>
        </p:nvSpPr>
        <p:spPr bwMode="auto">
          <a:xfrm>
            <a:off x="6762096" y="1379038"/>
            <a:ext cx="326441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>
                <a:solidFill>
                  <a:schemeClr val="bg1"/>
                </a:solidFill>
              </a:rPr>
              <a:t>Machine Learning and Statistics</a:t>
            </a:r>
          </a:p>
        </p:txBody>
      </p:sp>
      <p:sp>
        <p:nvSpPr>
          <p:cNvPr id="476398222" name="TextBox 476398221"/>
          <p:cNvSpPr txBox="1"/>
          <p:nvPr/>
        </p:nvSpPr>
        <p:spPr bwMode="auto">
          <a:xfrm>
            <a:off x="592499" y="2000250"/>
            <a:ext cx="377190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497922393" name=" 497922392"/>
          <p:cNvSpPr/>
          <p:nvPr/>
        </p:nvSpPr>
        <p:spPr bwMode="auto">
          <a:xfrm>
            <a:off x="554399" y="1904999"/>
            <a:ext cx="4381554" cy="36731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SIH 2026 — PS 26170</a:t>
            </a:r>
            <a:b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Problem definition, latent defects, 168 h prediction, explainability</a:t>
            </a:r>
          </a:p>
          <a:p>
            <a:pPr>
              <a:defRPr/>
            </a:pPr>
            <a:r>
              <a:rPr lang="en-US" sz="1100" b="0" i="0" u="sng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5"/>
              </a:rPr>
              <a:t>https://www.sih.gov.in/sih2026PS</a:t>
            </a:r>
            <a:endParaRPr sz="2000"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[2] NASA EEE-INST-002</a:t>
            </a:r>
            <a:b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EEE selection, screening, qualification and derating.</a:t>
            </a:r>
            <a:endParaRPr sz="2000"/>
          </a:p>
          <a:p>
            <a:pPr>
              <a:defRPr/>
            </a:pPr>
            <a:r>
              <a:rPr lang="en-US" sz="10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6"/>
              </a:rPr>
              <a:t>https://nepp.nasa.gov/pages/EEE-INST-002.cfm</a:t>
            </a:r>
            <a:endParaRPr sz="2000"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NASA PT-TE-1401</a:t>
            </a:r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EEE screening, early-life failures and parameter drift.</a:t>
            </a:r>
          </a:p>
          <a:p>
            <a:pPr>
              <a:defRPr/>
            </a:pPr>
            <a:r>
              <a:rPr lang="en-US" sz="1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https://extapps.ksc.nasa.gov/Reliability/Documents/Preferred_Practices/1401.pdf</a:t>
            </a:r>
            <a:endParaRPr sz="2000"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[4] ISRO Public QA/Procurement Requirement</a:t>
            </a:r>
            <a:b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EEE inspection, data-package verification and traceability context.</a:t>
            </a:r>
          </a:p>
          <a:p>
            <a:pPr>
              <a:defRPr/>
            </a:pPr>
            <a:r>
              <a:rPr lang="en-US" sz="1000" b="0" i="0" u="sng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7"/>
              </a:rPr>
              <a:t>https://eproc.isro.gov.in/home.html</a:t>
            </a:r>
            <a:endParaRPr/>
          </a:p>
          <a:p>
            <a:pPr>
              <a:defRPr/>
            </a:pPr>
            <a:r>
              <a:rPr lang="en-US" sz="14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NASA Flight Electronics Environmental Stress Screening Survey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US" sz="1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Environmental stress screening and latent-failure context</a:t>
            </a:r>
            <a:endParaRPr lang="en-US" sz="10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000" b="0" i="0" u="sng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8"/>
              </a:rPr>
              <a:t>https://ntrs.nasa.gov/citations/19840013934</a:t>
            </a:r>
            <a:endParaRPr lang="en-US" sz="10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25834726" name=" 1525834725"/>
          <p:cNvSpPr/>
          <p:nvPr/>
        </p:nvSpPr>
        <p:spPr bwMode="auto">
          <a:xfrm>
            <a:off x="6669448" y="1874520"/>
            <a:ext cx="4401019" cy="21339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[6] Liu et al., 2008 — Isolation Forest</a:t>
            </a:r>
            <a:br>
              <a:rPr sz="1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Multivariate anomaly detection.</a:t>
            </a:r>
            <a:endParaRPr sz="1600"/>
          </a:p>
          <a:p>
            <a:pPr>
              <a:defRPr/>
            </a:pPr>
            <a:r>
              <a:rPr lang="en-US" sz="10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9"/>
              </a:rPr>
              <a:t>https://cs.nju.edu.cn/zhouzh/zhouzh.files/publication/icdm08b.pdf</a:t>
            </a:r>
            <a:endParaRPr sz="1000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[7] Robust covariance / robust statistics — scikit-learn</a:t>
            </a:r>
            <a:br>
              <a:rPr sz="1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US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Robust population statistics under contamination.</a:t>
            </a:r>
            <a:endParaRPr sz="1600"/>
          </a:p>
          <a:p>
            <a:pPr>
              <a:defRPr/>
            </a:pPr>
            <a:r>
              <a:rPr lang="en-US" sz="1000" b="0" i="0" u="sng" strike="noStrike" cap="none" spc="0">
                <a:solidFill>
                  <a:schemeClr val="hlink"/>
                </a:solidFill>
                <a:latin typeface="Calibri"/>
                <a:ea typeface="Calibri"/>
                <a:cs typeface="Calibri"/>
                <a:hlinkClick r:id="rId10"/>
              </a:rPr>
              <a:t>https://scikithttps://scikit-learn.org/stable/auto_examples/covariance/plot_robust_vs_empirical_covariance.html</a:t>
            </a:r>
            <a:endParaRPr lang="en-US" sz="1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[8] Shafer &amp; Vovk, 2008 — Conformal Prediction</a:t>
            </a:r>
            <a:b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Prediction intervals / uncertainty.</a:t>
            </a:r>
            <a:endParaRPr sz="11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000" b="0" i="0" u="sng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11"/>
              </a:rPr>
              <a:t>https://jmlr.org/papers/v9/shafer08a.html</a:t>
            </a:r>
            <a:endParaRPr sz="1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71060191" name=" 971060190"/>
          <p:cNvSpPr/>
          <p:nvPr/>
        </p:nvSpPr>
        <p:spPr bwMode="auto">
          <a:xfrm>
            <a:off x="6688498" y="4705529"/>
            <a:ext cx="4381578" cy="82332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[9] Lundberg &amp; Lee, 2017 — SHAP</a:t>
            </a:r>
            <a:b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Feature attribution for interpretable ML.</a:t>
            </a:r>
            <a:endParaRPr/>
          </a:p>
          <a:p>
            <a:pPr>
              <a:defRPr/>
            </a:pPr>
            <a:r>
              <a:rPr lang="en-US" sz="10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12"/>
              </a:rPr>
              <a:t>https://papers.neurips.cc/paper/2017/file/8a20a8621978632d76c43dfd28b67767-Paper.pdf</a:t>
            </a:r>
            <a:endParaRPr sz="1000"/>
          </a:p>
        </p:txBody>
      </p:sp>
      <p:sp>
        <p:nvSpPr>
          <p:cNvPr id="1325961221" name="TextBox 1325961220"/>
          <p:cNvSpPr txBox="1"/>
          <p:nvPr/>
        </p:nvSpPr>
        <p:spPr bwMode="auto">
          <a:xfrm>
            <a:off x="116249" y="5619749"/>
            <a:ext cx="56968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Complete Project Documentation - </a:t>
            </a:r>
            <a:r>
              <a:rPr lang="en-US" sz="11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13"/>
              </a:rPr>
              <a:t>https://drive.google.com/file/d/189mMLKakpU7hSJQMZQVkKwX74vK1W4xH/view?usp=sharing</a:t>
            </a:r>
            <a:endParaRPr lang="en-US" sz="11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sz="1100"/>
          </a:p>
        </p:txBody>
      </p:sp>
      <p:sp>
        <p:nvSpPr>
          <p:cNvPr id="209955489" name="TextBox 209955488"/>
          <p:cNvSpPr txBox="1"/>
          <p:nvPr/>
        </p:nvSpPr>
        <p:spPr bwMode="auto">
          <a:xfrm>
            <a:off x="6475682" y="5493659"/>
            <a:ext cx="5716318" cy="716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Complete Project Repository - </a:t>
            </a:r>
            <a:r>
              <a:rPr lang="en-US" sz="12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14"/>
              </a:rPr>
              <a:t>https://github.com/RazeenaTasneem/ACS---Demo</a:t>
            </a:r>
            <a:endParaRPr lang="en-US" sz="11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1172</Words>
  <Application>Microsoft Office PowerPoint</Application>
  <PresentationFormat>Widescreen</PresentationFormat>
  <Paragraphs>234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ＭＳ Ｐゴシック</vt:lpstr>
      <vt:lpstr>Aptos</vt:lpstr>
      <vt:lpstr>Arial</vt:lpstr>
      <vt:lpstr>Calibri</vt:lpstr>
      <vt:lpstr>Cambria Math</vt:lpstr>
      <vt:lpstr>Garamond</vt:lpstr>
      <vt:lpstr>Times New Roman</vt:lpstr>
      <vt:lpstr>TradeGothic</vt:lpstr>
      <vt:lpstr>Wingdings</vt:lpstr>
      <vt:lpstr>Office Theme</vt:lpstr>
      <vt:lpstr>Office Theme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abdul arshath</dc:creator>
  <cp:keywords/>
  <dc:description>generated using python-pptx</dc:description>
  <cp:lastModifiedBy>abdul arshath</cp:lastModifiedBy>
  <cp:revision>5</cp:revision>
  <dcterms:created xsi:type="dcterms:W3CDTF">2013-01-27T09:14:16Z</dcterms:created>
  <dcterms:modified xsi:type="dcterms:W3CDTF">2026-09-11T04:26:16Z</dcterms:modified>
  <cp:category/>
</cp:coreProperties>
</file>