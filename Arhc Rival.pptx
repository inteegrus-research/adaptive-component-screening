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627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8517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6/2/2026</a:t>
            </a:fld>
            <a:endParaRPr lang="en-US"/>
          </a:p>
        </p:txBody>
      </p:sp>
      <p:sp>
        <p:nvSpPr>
          <p:cNvPr id="4934848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68953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47691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40710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683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297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120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EE7D57-31AB-8D27-3C66-A38EC9FF08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6017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328092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8013706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38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905069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08633930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5481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966016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3560007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415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731213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026301566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359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222328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09208927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63266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829662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634699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6/2/2026</a:t>
            </a:fld>
            <a:endParaRPr lang="en-US"/>
          </a:p>
        </p:txBody>
      </p:sp>
      <p:sp>
        <p:nvSpPr>
          <p:cNvPr id="21215166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299108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9104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414184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623246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6/2/2026</a:t>
            </a:fld>
            <a:endParaRPr lang="en-US"/>
          </a:p>
        </p:txBody>
      </p:sp>
      <p:sp>
        <p:nvSpPr>
          <p:cNvPr id="2089481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059889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826707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302664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3639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6/2/2026</a:t>
            </a:fld>
            <a:endParaRPr lang="en-US"/>
          </a:p>
        </p:txBody>
      </p:sp>
      <p:sp>
        <p:nvSpPr>
          <p:cNvPr id="836741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49913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5115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0155998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20929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857707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6/2/2026</a:t>
            </a:fld>
            <a:endParaRPr lang="en-US"/>
          </a:p>
        </p:txBody>
      </p:sp>
      <p:sp>
        <p:nvSpPr>
          <p:cNvPr id="5315075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25569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081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09539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9873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09981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47668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031117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6/2/2026</a:t>
            </a:fld>
            <a:endParaRPr lang="en-US"/>
          </a:p>
        </p:txBody>
      </p:sp>
      <p:sp>
        <p:nvSpPr>
          <p:cNvPr id="401228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5741171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2420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554639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6/2/2026</a:t>
            </a:fld>
            <a:endParaRPr lang="en-US"/>
          </a:p>
        </p:txBody>
      </p:sp>
      <p:sp>
        <p:nvSpPr>
          <p:cNvPr id="15638103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0833349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3428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6/2/2026</a:t>
            </a:fld>
            <a:endParaRPr lang="en-US"/>
          </a:p>
        </p:txBody>
      </p:sp>
      <p:sp>
        <p:nvSpPr>
          <p:cNvPr id="10038825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750191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020529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0926456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37363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89200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6/2/2026</a:t>
            </a:fld>
            <a:endParaRPr lang="en-US"/>
          </a:p>
        </p:txBody>
      </p:sp>
      <p:sp>
        <p:nvSpPr>
          <p:cNvPr id="2321724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11390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3837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051042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17921480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6880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6/2/2026</a:t>
            </a:fld>
            <a:endParaRPr lang="en-US"/>
          </a:p>
        </p:txBody>
      </p:sp>
      <p:sp>
        <p:nvSpPr>
          <p:cNvPr id="100326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465372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927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471575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889370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6/2/2026</a:t>
            </a:fld>
            <a:endParaRPr lang="en-US"/>
          </a:p>
        </p:txBody>
      </p:sp>
      <p:sp>
        <p:nvSpPr>
          <p:cNvPr id="20217912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211604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63687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571397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86547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6/2/2026</a:t>
            </a:fld>
            <a:endParaRPr lang="en-US"/>
          </a:p>
        </p:txBody>
      </p:sp>
      <p:sp>
        <p:nvSpPr>
          <p:cNvPr id="11486226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047499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9752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10225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443206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6/2/2026</a:t>
            </a:fld>
            <a:endParaRPr lang="en-US"/>
          </a:p>
        </p:txBody>
      </p:sp>
      <p:sp>
        <p:nvSpPr>
          <p:cNvPr id="1306930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532549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jpg"/><Relationship Id="rId6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sih.gov.in/sih2026PS" TargetMode="External"/><Relationship Id="rId6" Type="http://schemas.openxmlformats.org/officeDocument/2006/relationships/hyperlink" Target="https://nepp.nasa.gov/pages/EEE-INST-002.cfm" TargetMode="External"/><Relationship Id="rId7" Type="http://schemas.openxmlformats.org/officeDocument/2006/relationships/hyperlink" Target="https://eproc.isro.gov.in/home.html" TargetMode="External"/><Relationship Id="rId8" Type="http://schemas.openxmlformats.org/officeDocument/2006/relationships/hyperlink" Target="https://ntrs.nasa.gov/citations/19840013934?utm_source=chatgpt.com" TargetMode="External"/><Relationship Id="rId9" Type="http://schemas.openxmlformats.org/officeDocument/2006/relationships/hyperlink" Target="https://cs.nju.edu.cn/zhouzh/zhouzh.files/publication/icdm08b.pdf?utm_source=chatgpt.com" TargetMode="External"/><Relationship Id="rId10" Type="http://schemas.openxmlformats.org/officeDocument/2006/relationships/hyperlink" Target="https://scikithttps://scikit-learn.org/stable/auto_examples/covariance/plot_robust_vs_empirical_covariance.html?utm_source=chatgpt.com" TargetMode="External"/><Relationship Id="rId11" Type="http://schemas.openxmlformats.org/officeDocument/2006/relationships/hyperlink" Target="https://jmlr.org/papers/v9/shafer08a.html" TargetMode="External"/><Relationship Id="rId12" Type="http://schemas.openxmlformats.org/officeDocument/2006/relationships/hyperlink" Target="https://papers.neurips.cc/paper/2017/file/8a20a8621978632d76c43dfd28b67767-Paper.pdf?utm_source=chatgpt.com" TargetMode="External"/><Relationship Id="rId13" Type="http://schemas.openxmlformats.org/officeDocument/2006/relationships/hyperlink" Target="https://drive.google.com/file/d/189mMLKakpU7hSJQMZQVkKwX74vK1W4xH/view?usp=sharing" TargetMode="External"/><Relationship Id="rId14" Type="http://schemas.openxmlformats.org/officeDocument/2006/relationships/hyperlink" Target="https://github.com/RazeenaTasneem/ACS---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60330157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88844704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987131602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50093009" name="Subtitle 3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9998" y="1166555"/>
            <a:ext cx="11694583" cy="1752599"/>
          </a:xfrm>
        </p:spPr>
        <p:txBody>
          <a:bodyPr/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ACS - Adaptive Component Screening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128084564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94823209" name="TextBox 9"/>
          <p:cNvSpPr txBox="1"/>
          <p:nvPr/>
        </p:nvSpPr>
        <p:spPr bwMode="auto">
          <a:xfrm flipH="0" flipV="0">
            <a:off x="331285" y="1988255"/>
            <a:ext cx="6249466" cy="4618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Problem Statement ID – 26170</a:t>
            </a:r>
            <a:endParaRPr sz="2200" b="1">
              <a:latin typeface="Arial"/>
              <a:cs typeface="Arial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Problem Stateme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nt Title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AI-Driven Anomaly Detection in Component Burn-In &amp; Screening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Theme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 Smart Automation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PS Category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1">
                <a:latin typeface="Arial"/>
                <a:cs typeface="Arial"/>
              </a:rPr>
              <a:t> Software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Team ID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 EC004</a:t>
            </a:r>
            <a:endParaRPr sz="22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Team Name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1">
                <a:latin typeface="Arial"/>
                <a:cs typeface="Arial"/>
              </a:rPr>
              <a:t> Arch Rival</a:t>
            </a:r>
            <a:endParaRPr lang="en-IN" sz="2400" b="1">
              <a:latin typeface="Arial"/>
              <a:cs typeface="Arial"/>
            </a:endParaRPr>
          </a:p>
        </p:txBody>
      </p:sp>
      <p:pic>
        <p:nvPicPr>
          <p:cNvPr id="987708601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0893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40247" y="111336"/>
            <a:ext cx="8910820" cy="1143000"/>
          </a:xfrm>
        </p:spPr>
        <p:txBody>
          <a:bodyPr/>
          <a:lstStyle/>
          <a:p>
            <a:pPr>
              <a:defRPr/>
            </a:pPr>
            <a:endParaRPr sz="36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Adaptive AI Screening for Early Detection of Latent Electronic Component Failures</a:t>
            </a:r>
            <a:endParaRPr sz="36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pic>
        <p:nvPicPr>
          <p:cNvPr id="1341040109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73239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77" y="30213"/>
            <a:ext cx="1265999" cy="938372"/>
          </a:xfrm>
          <a:prstGeom prst="rect">
            <a:avLst/>
          </a:prstGeom>
        </p:spPr>
      </p:pic>
      <p:pic>
        <p:nvPicPr>
          <p:cNvPr id="29904112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06749" y="2165178"/>
            <a:ext cx="3996927" cy="454196"/>
          </a:xfrm>
          <a:prstGeom prst="rect">
            <a:avLst/>
          </a:prstGeom>
        </p:spPr>
      </p:pic>
      <p:pic>
        <p:nvPicPr>
          <p:cNvPr id="83180775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399124" y="2180611"/>
            <a:ext cx="6342024" cy="474250"/>
          </a:xfrm>
          <a:prstGeom prst="rect">
            <a:avLst/>
          </a:prstGeom>
        </p:spPr>
      </p:pic>
      <p:pic>
        <p:nvPicPr>
          <p:cNvPr id="196712087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602649" y="2695574"/>
            <a:ext cx="5753099" cy="973763"/>
          </a:xfrm>
          <a:prstGeom prst="rect">
            <a:avLst/>
          </a:prstGeom>
        </p:spPr>
      </p:pic>
      <p:pic>
        <p:nvPicPr>
          <p:cNvPr id="1667846360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4382759" y="2392276"/>
            <a:ext cx="1016365" cy="1371600"/>
          </a:xfrm>
          <a:prstGeom prst="rect">
            <a:avLst/>
          </a:prstGeom>
        </p:spPr>
      </p:pic>
      <p:pic>
        <p:nvPicPr>
          <p:cNvPr id="611120834" name=""/>
          <p:cNvPicPr>
            <a:picLocks noChangeAspect="1"/>
          </p:cNvPicPr>
          <p:nvPr/>
        </p:nvPicPr>
        <p:blipFill rotWithShape="1">
          <a:blip r:embed="rId9"/>
          <a:srcRect l="0" t="10629" r="0" b="9883"/>
          <a:stretch/>
        </p:blipFill>
        <p:spPr bwMode="auto">
          <a:xfrm flipH="0" flipV="0">
            <a:off x="53727" y="1349586"/>
            <a:ext cx="12186357" cy="5451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764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172210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428320206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19069995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076185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76" y="30213"/>
            <a:ext cx="1265998" cy="938372"/>
          </a:xfrm>
          <a:prstGeom prst="rect">
            <a:avLst/>
          </a:prstGeom>
        </p:spPr>
      </p:pic>
      <p:pic>
        <p:nvPicPr>
          <p:cNvPr id="314291491" name=""/>
          <p:cNvPicPr>
            <a:picLocks noChangeAspect="1"/>
          </p:cNvPicPr>
          <p:nvPr/>
        </p:nvPicPr>
        <p:blipFill rotWithShape="1">
          <a:blip r:embed="rId5"/>
          <a:srcRect l="0" t="11623" r="0" b="4490"/>
          <a:stretch/>
        </p:blipFill>
        <p:spPr bwMode="auto">
          <a:xfrm flipH="0" flipV="0">
            <a:off x="-61171" y="1063836"/>
            <a:ext cx="12186357" cy="57528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55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443257548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Arial"/>
                <a:cs typeface="Arial"/>
              </a:rPr>
              <a:t>Analysis of the feasibility of the idea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Arial"/>
                <a:cs typeface="Arial"/>
              </a:rPr>
              <a:t>Potential challenges and risks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Strategies</a:t>
            </a:r>
            <a:r>
              <a:rPr lang="en-US" sz="2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 for overcoming these challenges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811392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037587370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2078265057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9595802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76" y="30213"/>
            <a:ext cx="1265998" cy="938372"/>
          </a:xfrm>
          <a:prstGeom prst="rect">
            <a:avLst/>
          </a:prstGeom>
        </p:spPr>
      </p:pic>
      <p:pic>
        <p:nvPicPr>
          <p:cNvPr id="1355321647" name=""/>
          <p:cNvPicPr>
            <a:picLocks noChangeAspect="1"/>
          </p:cNvPicPr>
          <p:nvPr/>
        </p:nvPicPr>
        <p:blipFill rotWithShape="1">
          <a:blip r:embed="rId5"/>
          <a:srcRect l="0" t="10138" r="0" b="9305"/>
          <a:stretch/>
        </p:blipFill>
        <p:spPr bwMode="auto">
          <a:xfrm flipH="0" flipV="0">
            <a:off x="34077" y="1162049"/>
            <a:ext cx="12186357" cy="5524499"/>
          </a:xfrm>
          <a:prstGeom prst="rect">
            <a:avLst/>
          </a:prstGeom>
        </p:spPr>
      </p:pic>
      <p:pic>
        <p:nvPicPr>
          <p:cNvPr id="45907886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260236" y="1512093"/>
            <a:ext cx="3942944" cy="2714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831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14111087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316909438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1286137246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088891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76" y="30213"/>
            <a:ext cx="1265998" cy="938372"/>
          </a:xfrm>
          <a:prstGeom prst="rect">
            <a:avLst/>
          </a:prstGeom>
        </p:spPr>
      </p:pic>
      <p:pic>
        <p:nvPicPr>
          <p:cNvPr id="1534246640" name=""/>
          <p:cNvPicPr>
            <a:picLocks noChangeAspect="1"/>
          </p:cNvPicPr>
          <p:nvPr/>
        </p:nvPicPr>
        <p:blipFill rotWithShape="1">
          <a:blip r:embed="rId5"/>
          <a:srcRect l="0" t="10277" r="0" b="11666"/>
          <a:stretch/>
        </p:blipFill>
        <p:spPr bwMode="auto">
          <a:xfrm flipH="0" flipV="0">
            <a:off x="3238" y="1276349"/>
            <a:ext cx="12185521" cy="5353049"/>
          </a:xfrm>
          <a:prstGeom prst="rect">
            <a:avLst/>
          </a:prstGeom>
        </p:spPr>
      </p:pic>
      <p:pic>
        <p:nvPicPr>
          <p:cNvPr id="937862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48940" y="1276349"/>
            <a:ext cx="5345434" cy="3873351"/>
          </a:xfrm>
          <a:prstGeom prst="rect">
            <a:avLst/>
          </a:prstGeom>
        </p:spPr>
      </p:pic>
      <p:pic>
        <p:nvPicPr>
          <p:cNvPr id="118203842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494374" y="1278510"/>
            <a:ext cx="6535560" cy="3810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46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658570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pic>
        <p:nvPicPr>
          <p:cNvPr id="640694661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10474184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76" y="30213"/>
            <a:ext cx="1265998" cy="938372"/>
          </a:xfrm>
          <a:prstGeom prst="rect">
            <a:avLst/>
          </a:prstGeom>
        </p:spPr>
      </p:pic>
      <p:sp>
        <p:nvSpPr>
          <p:cNvPr id="218718259" name=""/>
          <p:cNvSpPr txBox="1"/>
          <p:nvPr/>
        </p:nvSpPr>
        <p:spPr bwMode="auto">
          <a:xfrm rot="0" flipH="0" flipV="0">
            <a:off x="944726" y="6210299"/>
            <a:ext cx="10251059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 informed the engineering design; mission-specific limits and acceptance criteria remain to be calibrated against authoritative operational data.</a:t>
            </a:r>
            <a:endParaRPr sz="2200" b="1" i="0"/>
          </a:p>
        </p:txBody>
      </p:sp>
      <p:sp>
        <p:nvSpPr>
          <p:cNvPr id="469954335" name=""/>
          <p:cNvSpPr/>
          <p:nvPr/>
        </p:nvSpPr>
        <p:spPr bwMode="auto">
          <a:xfrm rot="0" flipH="0" flipV="0">
            <a:off x="554399" y="1400175"/>
            <a:ext cx="4514850" cy="394694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40886861" name=""/>
          <p:cNvSpPr/>
          <p:nvPr/>
        </p:nvSpPr>
        <p:spPr bwMode="auto">
          <a:xfrm rot="0" flipH="0" flipV="0">
            <a:off x="6669448" y="1352549"/>
            <a:ext cx="3829050" cy="419098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8054439" name=""/>
          <p:cNvSpPr/>
          <p:nvPr/>
        </p:nvSpPr>
        <p:spPr bwMode="auto">
          <a:xfrm rot="0" flipH="0" flipV="0">
            <a:off x="6688498" y="4225109"/>
            <a:ext cx="3715470" cy="36612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47252867" name=""/>
          <p:cNvSpPr txBox="1"/>
          <p:nvPr/>
        </p:nvSpPr>
        <p:spPr bwMode="auto">
          <a:xfrm rot="0" flipH="0" flipV="0">
            <a:off x="554399" y="1405528"/>
            <a:ext cx="29153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bg1"/>
                </a:solidFill>
              </a:rPr>
              <a:t>Domain / Space Reliability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236304067" name=""/>
          <p:cNvSpPr txBox="1"/>
          <p:nvPr/>
        </p:nvSpPr>
        <p:spPr bwMode="auto">
          <a:xfrm rot="0" flipH="0" flipV="0">
            <a:off x="6828304" y="4225109"/>
            <a:ext cx="35228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bg1"/>
                </a:solidFill>
              </a:rPr>
              <a:t>Explainability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551534199" name=""/>
          <p:cNvSpPr txBox="1"/>
          <p:nvPr/>
        </p:nvSpPr>
        <p:spPr bwMode="auto">
          <a:xfrm rot="0" flipH="0" flipV="0">
            <a:off x="6762096" y="1379038"/>
            <a:ext cx="32644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bg1"/>
                </a:solidFill>
              </a:rPr>
              <a:t>Machine Learning and Statistics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476398222" name=""/>
          <p:cNvSpPr txBox="1"/>
          <p:nvPr/>
        </p:nvSpPr>
        <p:spPr bwMode="auto">
          <a:xfrm rot="0" flipH="0" flipV="0">
            <a:off x="592499" y="2000250"/>
            <a:ext cx="37719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97922393" name=""/>
          <p:cNvSpPr/>
          <p:nvPr/>
        </p:nvSpPr>
        <p:spPr bwMode="auto">
          <a:xfrm>
            <a:off x="554399" y="1904999"/>
            <a:ext cx="4381554" cy="3673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SIH 2026 — PS 26170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definition, latent defects, 168 h prediction, explainability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1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https://www.sih.gov.in/sih2026PS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NASA EEE-INST-002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selection, screening, qualification and derating.</a:t>
            </a:r>
            <a:endParaRPr sz="20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6" tooltip=""/>
              </a:rPr>
              <a:t>https://nepp.nasa.gov/pages/EEE-INST-002.cfm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NASA PT-TE-1401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screening, early-life failures and parameter drift.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https://extapps.ksc.nasa.gov/Reliability/Documents/Preferred_Practices/1401.pdf</a:t>
            </a:r>
            <a:endParaRPr sz="2000"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ISRO Public QA/Procurement Requirement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EEE inspection, data-package verification and traceability context.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7" tooltip=""/>
              </a:rPr>
              <a:t>https://eproc.isro.gov.in/home.html</a:t>
            </a:r>
            <a:endParaRPr/>
          </a:p>
          <a:p>
            <a:pPr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</a:t>
            </a:r>
            <a:r>
              <a:rPr lang="en-US" sz="1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NASA Flight Electronics Environmental Stress Screening Survey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1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Environmental stress screening and latent-failure context</a:t>
            </a:r>
            <a:endParaRPr lang="en-US" sz="1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8" tooltip=""/>
              </a:rPr>
              <a:t>https://ntrs.nasa.gov/citations/19840013934</a:t>
            </a:r>
            <a:endParaRPr lang="en-US" sz="1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25834726" name=""/>
          <p:cNvSpPr/>
          <p:nvPr/>
        </p:nvSpPr>
        <p:spPr bwMode="auto">
          <a:xfrm>
            <a:off x="6669448" y="1874520"/>
            <a:ext cx="4401019" cy="21339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Liu et al., 2008 — Isolation Forest</a:t>
            </a:r>
            <a:b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Multivariate anomaly detection.</a:t>
            </a:r>
            <a:endParaRPr sz="16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9" tooltip=""/>
              </a:rPr>
              <a:t>https://cs.nju.edu.cn/zhouzh/zhouzh.files/publication/icdm08b.pdf</a:t>
            </a:r>
            <a:endParaRPr sz="1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Robust covariance / robust statistics — scikit-learn</a:t>
            </a:r>
            <a:br>
              <a:rPr sz="1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Robust population statistics under contamination.</a:t>
            </a:r>
            <a:endParaRPr sz="1600"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hlink"/>
                </a:solidFill>
                <a:latin typeface="Calibri"/>
                <a:ea typeface="Calibri"/>
                <a:cs typeface="Calibri"/>
                <a:hlinkClick r:id="rId10" tooltip=""/>
              </a:rPr>
              <a:t>https://scikithttps://scikit-learn.org/stable/auto_examples/covariance/plot_robust_vs_empirical_covariance.html</a:t>
            </a:r>
            <a:endParaRPr lang="en-US" sz="1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 Shafer &amp; Vovk, 2008 — Conformal Prediction</a:t>
            </a:r>
            <a:b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Prediction intervals / uncertainty.</a:t>
            </a:r>
            <a:endParaRPr sz="11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0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11" tooltip=""/>
              </a:rPr>
              <a:t>https://jmlr.org/papers/v9/shafer08a.html</a:t>
            </a:r>
            <a:endParaRPr sz="1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71060191" name=""/>
          <p:cNvSpPr/>
          <p:nvPr/>
        </p:nvSpPr>
        <p:spPr bwMode="auto">
          <a:xfrm>
            <a:off x="6688498" y="4705529"/>
            <a:ext cx="4381578" cy="8233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Lundberg &amp; Lee, 2017 — SHAP</a:t>
            </a:r>
            <a:b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Feature attribution for interpretable ML.</a:t>
            </a:r>
            <a:endParaRPr/>
          </a:p>
          <a:p>
            <a:pPr>
              <a:defRPr/>
            </a:pPr>
            <a:r>
              <a:rPr lang="en-US" sz="10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2" tooltip=""/>
              </a:rPr>
              <a:t>https://papers.neurips.cc/paper/2017/file/8a20a8621978632d76c43dfd28b67767-Paper.pdf</a:t>
            </a:r>
            <a:endParaRPr sz="1000"/>
          </a:p>
        </p:txBody>
      </p:sp>
      <p:sp>
        <p:nvSpPr>
          <p:cNvPr id="1325961221" name=""/>
          <p:cNvSpPr txBox="1"/>
          <p:nvPr/>
        </p:nvSpPr>
        <p:spPr bwMode="auto">
          <a:xfrm rot="0" flipH="0" flipV="0">
            <a:off x="116249" y="5619749"/>
            <a:ext cx="56968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Complete Project Documentation - </a:t>
            </a:r>
            <a:r>
              <a:rPr lang="en-US" sz="11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3" tooltip=""/>
              </a:rPr>
              <a:t>https://drive.google.com/file/d/189mMLKakpU7hSJQMZQVkKwX74vK1W4xH/view?usp=sharing</a:t>
            </a:r>
            <a:endParaRPr lang="en-US" sz="11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100"/>
          </a:p>
        </p:txBody>
      </p:sp>
      <p:sp>
        <p:nvSpPr>
          <p:cNvPr id="209955489" name=""/>
          <p:cNvSpPr txBox="1"/>
          <p:nvPr/>
        </p:nvSpPr>
        <p:spPr bwMode="auto">
          <a:xfrm rot="0" flipH="0" flipV="0">
            <a:off x="8231548" y="5493659"/>
            <a:ext cx="5716318" cy="716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Complete Project Repository - </a:t>
            </a:r>
            <a:r>
              <a:rPr lang="en-US" sz="12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14" tooltip=""/>
              </a:rPr>
              <a:t>https://github.com/RazeenaTasneem/ACS---Demo</a:t>
            </a:r>
            <a:endParaRPr lang="en-US" sz="11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150</cp:revision>
  <dcterms:created xsi:type="dcterms:W3CDTF">2013-12-12T18:46:50Z</dcterms:created>
  <dcterms:modified xsi:type="dcterms:W3CDTF">2026-09-09T00:59:39Z</dcterms:modified>
  <cp:category/>
</cp:coreProperties>
</file>